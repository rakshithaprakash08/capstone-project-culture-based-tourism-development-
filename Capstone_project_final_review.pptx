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74" r:id="rId3"/>
    <p:sldId id="275" r:id="rId4"/>
    <p:sldId id="273" r:id="rId5"/>
    <p:sldId id="265" r:id="rId6"/>
    <p:sldId id="276" r:id="rId7"/>
    <p:sldId id="277" r:id="rId8"/>
    <p:sldId id="271" r:id="rId9"/>
    <p:sldId id="279" r:id="rId10"/>
    <p:sldId id="280" r:id="rId11"/>
    <p:sldId id="281" r:id="rId12"/>
    <p:sldId id="282" r:id="rId13"/>
    <p:sldId id="286" r:id="rId14"/>
    <p:sldId id="283" r:id="rId15"/>
    <p:sldId id="284" r:id="rId16"/>
    <p:sldId id="285" r:id="rId17"/>
    <p:sldId id="270"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67" d="100"/>
          <a:sy n="67" d="100"/>
        </p:scale>
        <p:origin x="-840" y="-9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xmlns=""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493956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248305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8124313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594210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CULTURE BASED TOURISM </a:t>
            </a:r>
            <a:r>
              <a:rPr lang="en-GB" sz="2400">
                <a:solidFill>
                  <a:schemeClr val="tx1"/>
                </a:solidFill>
                <a:latin typeface="Cambria" panose="02040503050406030204" pitchFamily="18" charset="0"/>
                <a:ea typeface="Cambria" panose="02040503050406030204" pitchFamily="18" charset="0"/>
              </a:rPr>
              <a:t>DEVELOPMENT PORTAL</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735615" y="2631381"/>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Chandrasekar V</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a:t>
            </a: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xmlns="" val="675429636"/>
              </p:ext>
            </p:extLst>
          </p:nvPr>
        </p:nvGraphicFramePr>
        <p:xfrm>
          <a:off x="336031" y="2631381"/>
          <a:ext cx="5808134" cy="2194620"/>
        </p:xfrm>
        <a:graphic>
          <a:graphicData uri="http://schemas.openxmlformats.org/drawingml/2006/table">
            <a:tbl>
              <a:tblPr firstRow="1" bandRow="1">
                <a:noFill/>
                <a:tableStyleId>{57690726-49DA-4552-BDEB-330DD8EA8BD9}</a:tableStyleId>
              </a:tblPr>
              <a:tblGrid>
                <a:gridCol w="2234856">
                  <a:extLst>
                    <a:ext uri="{9D8B030D-6E8A-4147-A177-3AD203B41FA5}">
                      <a16:colId xmlns:a16="http://schemas.microsoft.com/office/drawing/2014/main" xmlns="" val="20000"/>
                    </a:ext>
                  </a:extLst>
                </a:gridCol>
                <a:gridCol w="3573278">
                  <a:extLst>
                    <a:ext uri="{9D8B030D-6E8A-4147-A177-3AD203B41FA5}">
                      <a16:colId xmlns:a16="http://schemas.microsoft.com/office/drawing/2014/main" xmlns="" val="20001"/>
                    </a:ext>
                  </a:extLst>
                </a:gridCol>
              </a:tblGrid>
              <a:tr h="331139">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0"/>
                  </a:ext>
                </a:extLst>
              </a:tr>
              <a:tr h="331139">
                <a:tc>
                  <a:txBody>
                    <a:bodyPr/>
                    <a:lstStyle/>
                    <a:p>
                      <a:pPr marL="0" marR="0" lvl="0" indent="0" algn="ctr" rtl="0">
                        <a:spcBef>
                          <a:spcPts val="0"/>
                        </a:spcBef>
                        <a:spcAft>
                          <a:spcPts val="0"/>
                        </a:spcAft>
                        <a:buFont typeface="+mj-lt"/>
                        <a:buNone/>
                      </a:pPr>
                      <a:r>
                        <a:rPr lang="en-IN" sz="1800" b="0" u="none" strike="noStrike" cap="none" dirty="0">
                          <a:latin typeface="Cambria" panose="02040503050406030204" pitchFamily="18" charset="0"/>
                          <a:ea typeface="Cambria" panose="02040503050406030204" pitchFamily="18" charset="0"/>
                        </a:rPr>
                        <a:t>20221CSG0114           </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0" u="none" strike="noStrike" cap="none" dirty="0">
                          <a:latin typeface="Cambria" panose="02040503050406030204" pitchFamily="18" charset="0"/>
                          <a:ea typeface="Cambria" panose="02040503050406030204" pitchFamily="18" charset="0"/>
                        </a:rPr>
                        <a:t>Rakshitha D P</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1"/>
                  </a:ext>
                </a:extLst>
              </a:tr>
              <a:tr h="331139">
                <a:tc>
                  <a:txBody>
                    <a:bodyPr/>
                    <a:lstStyle/>
                    <a:p>
                      <a:pPr marL="0" marR="0" lvl="0" indent="0" algn="ctr" rtl="0">
                        <a:spcBef>
                          <a:spcPts val="0"/>
                        </a:spcBef>
                        <a:spcAft>
                          <a:spcPts val="0"/>
                        </a:spcAft>
                        <a:buNone/>
                      </a:pPr>
                      <a:r>
                        <a:rPr lang="en-IN" sz="1800" b="0" u="none" strike="noStrike" cap="none" dirty="0">
                          <a:latin typeface="Cambria" panose="02040503050406030204" pitchFamily="18" charset="0"/>
                          <a:ea typeface="Cambria" panose="02040503050406030204" pitchFamily="18" charset="0"/>
                        </a:rPr>
                        <a:t>20221CSG0116</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0" u="none" strike="noStrike" cap="none" dirty="0">
                          <a:latin typeface="Cambria" panose="02040503050406030204" pitchFamily="18" charset="0"/>
                          <a:ea typeface="Cambria" panose="02040503050406030204" pitchFamily="18" charset="0"/>
                        </a:rPr>
                        <a:t>Vishal Gowda H</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2"/>
                  </a:ext>
                </a:extLst>
              </a:tr>
              <a:tr h="331139">
                <a:tc>
                  <a:txBody>
                    <a:bodyPr/>
                    <a:lstStyle/>
                    <a:p>
                      <a:pPr marL="0" marR="0" lvl="0" indent="0" algn="ctr" rtl="0">
                        <a:spcBef>
                          <a:spcPts val="0"/>
                        </a:spcBef>
                        <a:spcAft>
                          <a:spcPts val="0"/>
                        </a:spcAft>
                        <a:buNone/>
                      </a:pPr>
                      <a:r>
                        <a:rPr lang="en-IN" sz="1800" b="0" u="none" strike="noStrike" cap="none" dirty="0">
                          <a:latin typeface="Cambria" panose="02040503050406030204" pitchFamily="18" charset="0"/>
                          <a:ea typeface="Cambria" panose="02040503050406030204" pitchFamily="18" charset="0"/>
                        </a:rPr>
                        <a:t>20221CSG0124</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0" u="none" strike="noStrike" cap="none" dirty="0">
                          <a:latin typeface="Cambria" panose="02040503050406030204" pitchFamily="18" charset="0"/>
                          <a:ea typeface="Cambria" panose="02040503050406030204" pitchFamily="18" charset="0"/>
                        </a:rPr>
                        <a:t>Sai Siri Naidu O</a:t>
                      </a:r>
                      <a:endParaRPr sz="1800" b="0"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3"/>
                  </a:ext>
                </a:extLst>
              </a:tr>
              <a:tr h="331139">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4"/>
                  </a:ext>
                </a:extLst>
              </a:tr>
              <a:tr h="331139">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xmlns=""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i="0" u="none" strike="noStrike" cap="none" dirty="0">
                <a:solidFill>
                  <a:schemeClr val="tx1"/>
                </a:solidFill>
                <a:latin typeface="Cambria" panose="02040503050406030204" pitchFamily="18" charset="0"/>
                <a:ea typeface="Cambria" panose="02040503050406030204" pitchFamily="18" charset="0"/>
                <a:cs typeface="Verdana"/>
                <a:sym typeface="Verdana"/>
              </a:rPr>
              <a:t>Computer science and technology</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dirty="0">
                <a:solidFill>
                  <a:schemeClr val="tx1"/>
                </a:solidFill>
                <a:latin typeface="Cambria" panose="02040503050406030204" pitchFamily="18" charset="0"/>
                <a:ea typeface="Cambria" panose="02040503050406030204" pitchFamily="18" charset="0"/>
                <a:cs typeface="Verdana"/>
                <a:sym typeface="Verdana"/>
              </a:rPr>
              <a:t>Dr. Anandaraj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i="0" u="none" strike="noStrike" cap="none" dirty="0">
                <a:solidFill>
                  <a:schemeClr val="tx1"/>
                </a:solidFill>
                <a:latin typeface="Cambria" panose="02040503050406030204" pitchFamily="18" charset="0"/>
                <a:ea typeface="Cambria" panose="02040503050406030204" pitchFamily="18" charset="0"/>
                <a:cs typeface="Verdana"/>
                <a:sym typeface="Verdana"/>
              </a:rPr>
              <a:t>Dr. Sharmasth Vali</a:t>
            </a:r>
            <a:endParaRPr lang="en-US" sz="1800"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 (continuation)..</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26067"/>
            <a:ext cx="10668000" cy="5156200"/>
          </a:xfrm>
          <a:prstGeom prst="rect">
            <a:avLst/>
          </a:prstGeom>
          <a:noFill/>
          <a:ln>
            <a:noFill/>
          </a:ln>
        </p:spPr>
        <p:txBody>
          <a:bodyPr spcFirstLastPara="1" wrap="square" lIns="91425" tIns="45700" rIns="91425" bIns="45700" anchor="t" anchorCtr="0">
            <a:normAutofit/>
          </a:bodyPr>
          <a:lstStyle/>
          <a:p>
            <a:pPr marL="152400" indent="0" algn="just">
              <a:lnSpc>
                <a:spcPct val="200000"/>
              </a:lnSpc>
              <a:spcBef>
                <a:spcPts val="0"/>
              </a:spcBef>
              <a:buNone/>
            </a:pPr>
            <a:r>
              <a:rPr lang="en-US" sz="1800" b="1" dirty="0">
                <a:latin typeface="Cambria" panose="02040503050406030204" pitchFamily="18" charset="0"/>
                <a:ea typeface="Cambria" panose="02040503050406030204" pitchFamily="18" charset="0"/>
              </a:rPr>
              <a:t>Problem Statement :</a:t>
            </a:r>
            <a:r>
              <a:rPr lang="en-US" sz="1800"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A solution/idea that can boost the current situation of the tourism industries including hotels, travel and others by indulging travelers with a touch of cultural experience across various destinations.</a:t>
            </a:r>
            <a:endParaRPr lang="en-US" sz="1600" b="1" dirty="0">
              <a:latin typeface="Cambria" panose="02040503050406030204" pitchFamily="18" charset="0"/>
              <a:ea typeface="Cambria" panose="02040503050406030204" pitchFamily="18" charset="0"/>
            </a:endParaRPr>
          </a:p>
          <a:p>
            <a:pPr marL="152400" indent="0" algn="just">
              <a:lnSpc>
                <a:spcPct val="200000"/>
              </a:lnSpc>
              <a:spcBef>
                <a:spcPts val="0"/>
              </a:spcBef>
              <a:buNone/>
            </a:pPr>
            <a:r>
              <a:rPr lang="en-US" sz="1800" b="1" dirty="0">
                <a:latin typeface="Cambria" panose="02040503050406030204" pitchFamily="18" charset="0"/>
                <a:ea typeface="Cambria" panose="02040503050406030204" pitchFamily="18" charset="0"/>
              </a:rPr>
              <a:t>Objectives :</a:t>
            </a:r>
            <a:r>
              <a:rPr lang="en-US" sz="1800"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This project aims to preserve cultural heritage, empower local communities, and enhance tourism development by shifting the focus from conventional sightseeing to authentic cultural engagement. By integrating technology with culture, the portal supports sustainable tourism, cultural preservation, and economic upliftment of local communities.</a:t>
            </a:r>
          </a:p>
          <a:p>
            <a:pPr marL="152400" indent="0" algn="just">
              <a:lnSpc>
                <a:spcPct val="200000"/>
              </a:lnSpc>
              <a:spcBef>
                <a:spcPts val="0"/>
              </a:spcBef>
              <a:buNone/>
            </a:pPr>
            <a:r>
              <a:rPr lang="en-US" sz="1800" b="1" dirty="0">
                <a:latin typeface="Cambria" panose="02040503050406030204" pitchFamily="18" charset="0"/>
                <a:ea typeface="Cambria" panose="02040503050406030204" pitchFamily="18" charset="0"/>
              </a:rPr>
              <a:t>Innovation / Novel Contributions :</a:t>
            </a:r>
          </a:p>
          <a:p>
            <a:pPr algn="just"/>
            <a:r>
              <a:rPr lang="en-US" sz="1600" dirty="0">
                <a:latin typeface="Cambria" panose="02040503050406030204" pitchFamily="18" charset="0"/>
                <a:ea typeface="Cambria" panose="02040503050406030204" pitchFamily="18" charset="0"/>
              </a:rPr>
              <a:t>Unlike  existing  tourism portals, our system highlights culture as the primary driver.</a:t>
            </a:r>
          </a:p>
          <a:p>
            <a:pPr algn="just"/>
            <a:r>
              <a:rPr lang="en-US" sz="1600" dirty="0">
                <a:latin typeface="Cambria" panose="02040503050406030204" pitchFamily="18" charset="0"/>
                <a:ea typeface="Cambria" panose="02040503050406030204" pitchFamily="18" charset="0"/>
              </a:rPr>
              <a:t>Integration of festivals, folklore, cuisine, and art into destination guides.</a:t>
            </a:r>
          </a:p>
          <a:p>
            <a:pPr algn="just"/>
            <a:r>
              <a:rPr lang="en-US" sz="1600" dirty="0">
                <a:latin typeface="Cambria" panose="02040503050406030204" pitchFamily="18" charset="0"/>
                <a:ea typeface="Cambria" panose="02040503050406030204" pitchFamily="18" charset="0"/>
              </a:rPr>
              <a:t>Recommendation engine to personalize suggestions based on cultural preferences.</a:t>
            </a:r>
          </a:p>
          <a:p>
            <a:pPr algn="just"/>
            <a:r>
              <a:rPr lang="en-US" sz="1600" dirty="0">
                <a:latin typeface="Cambria" panose="02040503050406030204" pitchFamily="18" charset="0"/>
                <a:ea typeface="Cambria" panose="02040503050406030204" pitchFamily="18" charset="0"/>
              </a:rPr>
              <a:t>Support for local community engagement (event organizers, artisans, guides).</a:t>
            </a:r>
          </a:p>
          <a:p>
            <a:pPr marL="152400" indent="0" algn="just">
              <a:lnSpc>
                <a:spcPct val="200000"/>
              </a:lnSpc>
              <a:spcBef>
                <a:spcPts val="0"/>
              </a:spcBef>
              <a:buNone/>
            </a:pP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xmlns="" val="2637979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127379-D5CB-8BC9-74B1-E55DF2FF9C29}"/>
              </a:ext>
            </a:extLst>
          </p:cNvPr>
          <p:cNvSpPr>
            <a:spLocks noGrp="1"/>
          </p:cNvSpPr>
          <p:nvPr>
            <p:ph type="title"/>
          </p:nvPr>
        </p:nvSpPr>
        <p:spPr/>
        <p:txBody>
          <a:bodyPr/>
          <a:lstStyle/>
          <a:p>
            <a:r>
              <a:rPr lang="en-IN" dirty="0"/>
              <a:t>Content</a:t>
            </a:r>
          </a:p>
        </p:txBody>
      </p:sp>
      <p:sp>
        <p:nvSpPr>
          <p:cNvPr id="3" name="Text Placeholder 2">
            <a:extLst>
              <a:ext uri="{FF2B5EF4-FFF2-40B4-BE49-F238E27FC236}">
                <a16:creationId xmlns:a16="http://schemas.microsoft.com/office/drawing/2014/main" xmlns="" id="{B67D2B2B-4B44-9E49-B0EA-B8A908D9FEC2}"/>
              </a:ext>
            </a:extLst>
          </p:cNvPr>
          <p:cNvSpPr>
            <a:spLocks noGrp="1"/>
          </p:cNvSpPr>
          <p:nvPr>
            <p:ph type="body" idx="1"/>
          </p:nvPr>
        </p:nvSpPr>
        <p:spPr/>
        <p:txBody>
          <a:bodyPr>
            <a:normAutofit/>
          </a:bodyPr>
          <a:lstStyle/>
          <a:p>
            <a:pPr marL="76200" indent="0">
              <a:buNone/>
            </a:pPr>
            <a:r>
              <a:rPr lang="en-US" sz="2000" b="1" dirty="0">
                <a:latin typeface="Cambria" panose="02040503050406030204" pitchFamily="18" charset="0"/>
                <a:ea typeface="Cambria" panose="02040503050406030204" pitchFamily="18" charset="0"/>
              </a:rPr>
              <a:t>Background &amp; Related Work :</a:t>
            </a:r>
          </a:p>
          <a:p>
            <a:endParaRPr lang="en-US" sz="1800" dirty="0"/>
          </a:p>
          <a:p>
            <a:r>
              <a:rPr lang="en-US" sz="1800" dirty="0">
                <a:latin typeface="Cambria" panose="02040503050406030204" pitchFamily="18" charset="0"/>
                <a:ea typeface="Cambria" panose="02040503050406030204" pitchFamily="18" charset="0"/>
              </a:rPr>
              <a:t>Existing portals like TripAdvisor, MakeMyTrip provide travel services but lack a strong focus on cultural immersion.</a:t>
            </a:r>
          </a:p>
          <a:p>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Research shows tourists increasingly seek authentic experiences beyond sightseeing.</a:t>
            </a:r>
          </a:p>
          <a:p>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Prior academic works on culture-based tourism systems highlight the importance of culture and personalization.</a:t>
            </a:r>
          </a:p>
          <a:p>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Our project bridges this gap by combining web technology, cultural knowledge, and interactive user experience.</a:t>
            </a:r>
          </a:p>
          <a:p>
            <a:endParaRPr lang="en-IN" sz="1800" dirty="0"/>
          </a:p>
        </p:txBody>
      </p:sp>
    </p:spTree>
    <p:extLst>
      <p:ext uri="{BB962C8B-B14F-4D97-AF65-F5344CB8AC3E}">
        <p14:creationId xmlns:p14="http://schemas.microsoft.com/office/powerpoint/2010/main" xmlns="" val="2024907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 Components:</a:t>
            </a:r>
            <a:endParaRPr lang="en-IN" sz="2000" b="1" dirty="0">
              <a:latin typeface="Cambria" panose="02040503050406030204" pitchFamily="18" charset="0"/>
              <a:ea typeface="Cambria" panose="02040503050406030204" pitchFamily="18" charset="0"/>
            </a:endParaRPr>
          </a:p>
          <a:p>
            <a:endParaRPr lang="en-IN" sz="2000" b="1" dirty="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Frontend:</a:t>
            </a:r>
            <a:r>
              <a:rPr lang="en-IN" sz="2000" dirty="0" smtClean="0">
                <a:latin typeface="Cambria" panose="02040503050406030204" pitchFamily="18" charset="0"/>
                <a:ea typeface="Cambria" panose="02040503050406030204" pitchFamily="18" charset="0"/>
              </a:rPr>
              <a:t> HTML5, CSS3, Bootstrap</a:t>
            </a:r>
          </a:p>
          <a:p>
            <a:endParaRPr lang="en-IN" sz="2000" dirty="0" smtClean="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Backend:</a:t>
            </a:r>
            <a:r>
              <a:rPr lang="en-IN" sz="2000" dirty="0" smtClean="0">
                <a:latin typeface="Cambria" panose="02040503050406030204" pitchFamily="18" charset="0"/>
                <a:ea typeface="Cambria" panose="02040503050406030204" pitchFamily="18" charset="0"/>
              </a:rPr>
              <a:t> Python Flask</a:t>
            </a:r>
          </a:p>
          <a:p>
            <a:endParaRPr lang="en-IN" sz="2000" b="1" dirty="0" smtClean="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Database:</a:t>
            </a:r>
            <a:r>
              <a:rPr lang="en-IN" sz="2000" dirty="0" smtClean="0">
                <a:latin typeface="Cambria" panose="02040503050406030204" pitchFamily="18" charset="0"/>
                <a:ea typeface="Cambria" panose="02040503050406030204" pitchFamily="18" charset="0"/>
              </a:rPr>
              <a:t> </a:t>
            </a:r>
            <a:r>
              <a:rPr lang="en-US" sz="2000" dirty="0" err="1" smtClean="0">
                <a:latin typeface="Cambria" pitchFamily="18" charset="0"/>
                <a:ea typeface="Cambria" pitchFamily="18" charset="0"/>
              </a:rPr>
              <a:t>SQLite</a:t>
            </a:r>
            <a:r>
              <a:rPr lang="en-US" sz="2000" dirty="0" smtClean="0">
                <a:latin typeface="Cambria" pitchFamily="18" charset="0"/>
                <a:ea typeface="Cambria" pitchFamily="18" charset="0"/>
              </a:rPr>
              <a:t> </a:t>
            </a:r>
            <a:r>
              <a:rPr lang="en-US" sz="2000" dirty="0" smtClean="0">
                <a:latin typeface="Cambria" pitchFamily="18" charset="0"/>
                <a:ea typeface="Cambria" pitchFamily="18" charset="0"/>
              </a:rPr>
              <a:t>via </a:t>
            </a:r>
            <a:r>
              <a:rPr lang="en-US" sz="2000" dirty="0" err="1" smtClean="0">
                <a:latin typeface="Cambria" pitchFamily="18" charset="0"/>
                <a:ea typeface="Cambria" pitchFamily="18" charset="0"/>
              </a:rPr>
              <a:t>SQLAlchemy</a:t>
            </a:r>
            <a:endParaRPr lang="en-US" sz="2000" dirty="0" smtClean="0">
              <a:latin typeface="Cambria" pitchFamily="18" charset="0"/>
              <a:ea typeface="Cambria" pitchFamily="18" charset="0"/>
            </a:endParaRPr>
          </a:p>
          <a:p>
            <a:pPr>
              <a:buNone/>
            </a:pPr>
            <a:endParaRPr lang="en-IN" sz="2000" dirty="0" smtClean="0">
              <a:latin typeface="Cambria" pitchFamily="18" charset="0"/>
              <a:ea typeface="Cambria" pitchFamily="18" charset="0"/>
            </a:endParaRPr>
          </a:p>
          <a:p>
            <a:r>
              <a:rPr lang="en-US" sz="2000" b="1" dirty="0" smtClean="0">
                <a:latin typeface="Cambria" pitchFamily="18" charset="0"/>
                <a:ea typeface="Cambria" pitchFamily="18" charset="0"/>
              </a:rPr>
              <a:t>Templates</a:t>
            </a:r>
            <a:r>
              <a:rPr lang="en-US" sz="2000" b="1" dirty="0" smtClean="0">
                <a:latin typeface="Cambria" pitchFamily="18" charset="0"/>
                <a:ea typeface="Cambria" pitchFamily="18" charset="0"/>
              </a:rPr>
              <a:t>:</a:t>
            </a:r>
            <a:r>
              <a:rPr lang="en-US" sz="2000" dirty="0" smtClean="0">
                <a:latin typeface="Cambria" pitchFamily="18" charset="0"/>
                <a:ea typeface="Cambria" pitchFamily="18" charset="0"/>
              </a:rPr>
              <a:t> Jinja2-based HTML </a:t>
            </a:r>
            <a:r>
              <a:rPr lang="en-US" sz="2000" dirty="0" smtClean="0">
                <a:latin typeface="Cambria" pitchFamily="18" charset="0"/>
                <a:ea typeface="Cambria" pitchFamily="18" charset="0"/>
              </a:rPr>
              <a:t>templates</a:t>
            </a:r>
          </a:p>
          <a:p>
            <a:pPr>
              <a:buNone/>
            </a:pPr>
            <a:endParaRPr lang="en-IN" sz="2000" b="1" dirty="0" smtClean="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Version Control:</a:t>
            </a:r>
            <a:r>
              <a:rPr lang="en-IN" sz="2000" dirty="0" smtClean="0">
                <a:latin typeface="Cambria" panose="02040503050406030204" pitchFamily="18" charset="0"/>
                <a:ea typeface="Cambria" panose="02040503050406030204" pitchFamily="18" charset="0"/>
              </a:rPr>
              <a:t> Git</a:t>
            </a:r>
          </a:p>
          <a:p>
            <a:endParaRPr lang="en-IN" sz="2000" dirty="0" smtClean="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Hosting : </a:t>
            </a:r>
            <a:r>
              <a:rPr lang="en-US" sz="2000" dirty="0" smtClean="0">
                <a:latin typeface="Cambria" pitchFamily="18" charset="0"/>
                <a:ea typeface="Cambria" pitchFamily="18" charset="0"/>
              </a:rPr>
              <a:t>Local </a:t>
            </a:r>
            <a:r>
              <a:rPr lang="en-US" sz="2000" dirty="0" smtClean="0">
                <a:latin typeface="Cambria" pitchFamily="18" charset="0"/>
                <a:ea typeface="Cambria" pitchFamily="18" charset="0"/>
              </a:rPr>
              <a:t>Flask </a:t>
            </a:r>
            <a:r>
              <a:rPr lang="en-US" sz="2000" dirty="0" smtClean="0">
                <a:latin typeface="Cambria" pitchFamily="18" charset="0"/>
                <a:ea typeface="Cambria" pitchFamily="18" charset="0"/>
              </a:rPr>
              <a:t>server</a:t>
            </a:r>
            <a:endParaRPr lang="en-IN" sz="2000" dirty="0" smtClean="0">
              <a:latin typeface="Cambria" pitchFamily="18" charset="0"/>
              <a:ea typeface="Cambria" pitchFamily="18" charset="0"/>
            </a:endParaRPr>
          </a:p>
          <a:p>
            <a:pPr marL="342900" lvl="0" indent="-190500" algn="just" rtl="0">
              <a:spcBef>
                <a:spcPts val="0"/>
              </a:spcBef>
              <a:spcAft>
                <a:spcPts val="0"/>
              </a:spcAft>
              <a:buClr>
                <a:schemeClr val="dk1"/>
              </a:buClr>
              <a:buSzPct val="100000"/>
              <a:buNone/>
            </a:pPr>
            <a:endParaRPr lang="en-US" sz="2000" dirty="0" smtClean="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smtClean="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xmlns=""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lnSpcReduction="10000"/>
          </a:bodyPr>
          <a:lstStyle/>
          <a:p>
            <a:r>
              <a:rPr lang="en-US" sz="2000" dirty="0">
                <a:latin typeface="Cambria" panose="02040503050406030204" pitchFamily="18" charset="0"/>
                <a:ea typeface="Cambria" panose="02040503050406030204" pitchFamily="18" charset="0"/>
              </a:rPr>
              <a:t>Virtual Attributes for Cultural Learning (VR) – Yin et al., </a:t>
            </a:r>
            <a:r>
              <a:rPr lang="en-US" sz="2000" dirty="0" smtClean="0">
                <a:latin typeface="Cambria" panose="02040503050406030204" pitchFamily="18" charset="0"/>
                <a:ea typeface="Cambria" panose="02040503050406030204" pitchFamily="18" charset="0"/>
              </a:rPr>
              <a:t>2024.</a:t>
            </a:r>
          </a:p>
          <a:p>
            <a:endParaRPr lang="en-US" sz="2000" dirty="0" smtClean="0">
              <a:latin typeface="Cambria" panose="02040503050406030204" pitchFamily="18" charset="0"/>
              <a:ea typeface="Cambria" panose="02040503050406030204" pitchFamily="18" charset="0"/>
            </a:endParaRPr>
          </a:p>
          <a:p>
            <a:r>
              <a:rPr lang="en-US" sz="2000" dirty="0" smtClean="0">
                <a:latin typeface="Cambria" pitchFamily="18" charset="0"/>
                <a:ea typeface="Cambria" pitchFamily="18" charset="0"/>
              </a:rPr>
              <a:t>“</a:t>
            </a:r>
            <a:r>
              <a:rPr lang="en-US" sz="2000" dirty="0" smtClean="0">
                <a:latin typeface="Cambria" pitchFamily="18" charset="0"/>
                <a:ea typeface="Cambria" pitchFamily="18" charset="0"/>
              </a:rPr>
              <a:t>A Hybrid Recommender System for Cultural Points of Interest</a:t>
            </a:r>
            <a:r>
              <a:rPr lang="en-US" sz="2000" dirty="0" smtClean="0">
                <a:latin typeface="Cambria" pitchFamily="18" charset="0"/>
                <a:ea typeface="Cambria" pitchFamily="18" charset="0"/>
              </a:rPr>
              <a:t>”- </a:t>
            </a:r>
            <a:r>
              <a:rPr lang="en-US" sz="2000" dirty="0" err="1" smtClean="0">
                <a:latin typeface="Cambria" pitchFamily="18" charset="0"/>
                <a:ea typeface="Cambria" pitchFamily="18" charset="0"/>
              </a:rPr>
              <a:t>Chalkiadakis</a:t>
            </a:r>
            <a:r>
              <a:rPr lang="en-US" sz="2000" dirty="0" smtClean="0">
                <a:latin typeface="Cambria" pitchFamily="18" charset="0"/>
                <a:ea typeface="Cambria" pitchFamily="18" charset="0"/>
              </a:rPr>
              <a:t> et </a:t>
            </a:r>
            <a:r>
              <a:rPr lang="en-US" sz="2000" dirty="0" smtClean="0">
                <a:latin typeface="Cambria" pitchFamily="18" charset="0"/>
                <a:ea typeface="Cambria" pitchFamily="18" charset="0"/>
              </a:rPr>
              <a:t>al. ,2023.</a:t>
            </a:r>
          </a:p>
          <a:p>
            <a:endParaRPr lang="en-US" sz="2000" dirty="0" smtClean="0">
              <a:latin typeface="Cambria" pitchFamily="18" charset="0"/>
              <a:ea typeface="Cambria" pitchFamily="18" charset="0"/>
            </a:endParaRPr>
          </a:p>
          <a:p>
            <a:r>
              <a:rPr lang="en-US" sz="2000" dirty="0" smtClean="0">
                <a:latin typeface="Cambria" pitchFamily="18" charset="0"/>
                <a:ea typeface="Cambria" pitchFamily="18" charset="0"/>
              </a:rPr>
              <a:t>“</a:t>
            </a:r>
            <a:r>
              <a:rPr lang="en-US" sz="2000" dirty="0" smtClean="0">
                <a:latin typeface="Cambria" pitchFamily="18" charset="0"/>
                <a:ea typeface="Cambria" pitchFamily="18" charset="0"/>
              </a:rPr>
              <a:t>Intelligent Digital Platform for Community-Based Tourism in Peru</a:t>
            </a:r>
            <a:r>
              <a:rPr lang="en-US" sz="2000" dirty="0" smtClean="0">
                <a:latin typeface="Cambria" pitchFamily="18" charset="0"/>
                <a:ea typeface="Cambria" pitchFamily="18" charset="0"/>
              </a:rPr>
              <a:t>”- </a:t>
            </a:r>
            <a:r>
              <a:rPr lang="en-US" sz="2000" dirty="0" err="1" smtClean="0">
                <a:latin typeface="Cambria" pitchFamily="18" charset="0"/>
                <a:ea typeface="Cambria" pitchFamily="18" charset="0"/>
              </a:rPr>
              <a:t>Maquera</a:t>
            </a:r>
            <a:r>
              <a:rPr lang="en-US" sz="2000" dirty="0" smtClean="0">
                <a:latin typeface="Cambria" pitchFamily="18" charset="0"/>
                <a:ea typeface="Cambria" pitchFamily="18" charset="0"/>
              </a:rPr>
              <a:t> et al. </a:t>
            </a:r>
            <a:r>
              <a:rPr lang="en-US" sz="2000" dirty="0" smtClean="0">
                <a:latin typeface="Cambria" pitchFamily="18" charset="0"/>
                <a:ea typeface="Cambria" pitchFamily="18" charset="0"/>
              </a:rPr>
              <a:t>,2022.</a:t>
            </a:r>
          </a:p>
          <a:p>
            <a:endParaRPr lang="en-US" sz="2000" dirty="0">
              <a:latin typeface="Cambria" pitchFamily="18" charset="0"/>
              <a:ea typeface="Cambria" pitchFamily="18" charset="0"/>
            </a:endParaRPr>
          </a:p>
          <a:p>
            <a:r>
              <a:rPr lang="en-US" sz="2000" dirty="0">
                <a:latin typeface="Cambria" pitchFamily="18" charset="0"/>
                <a:ea typeface="Cambria" pitchFamily="18" charset="0"/>
              </a:rPr>
              <a:t>M. Richards, “Cultural tourism: A review of recent research and trends,” </a:t>
            </a:r>
            <a:r>
              <a:rPr lang="en-US" sz="2000" i="1" dirty="0">
                <a:latin typeface="Cambria" panose="02040503050406030204" pitchFamily="18" charset="0"/>
                <a:ea typeface="Cambria" panose="02040503050406030204" pitchFamily="18" charset="0"/>
              </a:rPr>
              <a:t>Journal of Hospitality and Tourism Management</a:t>
            </a:r>
            <a:r>
              <a:rPr lang="en-US" sz="2000" dirty="0">
                <a:latin typeface="Cambria" panose="02040503050406030204" pitchFamily="18" charset="0"/>
                <a:ea typeface="Cambria" panose="02040503050406030204" pitchFamily="18" charset="0"/>
              </a:rPr>
              <a:t>, vol. 36, pp. 12–21, 2018.</a:t>
            </a:r>
            <a:br>
              <a:rPr lang="en-US" sz="2000" dirty="0">
                <a:latin typeface="Cambria" panose="02040503050406030204" pitchFamily="18" charset="0"/>
                <a:ea typeface="Cambria" panose="02040503050406030204" pitchFamily="18" charset="0"/>
              </a:rPr>
            </a:b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A. Smith and L. Robinson, “Cultural tourism in a digital world,” </a:t>
            </a:r>
            <a:r>
              <a:rPr lang="en-US" sz="2000" i="1" dirty="0">
                <a:latin typeface="Cambria" panose="02040503050406030204" pitchFamily="18" charset="0"/>
                <a:ea typeface="Cambria" panose="02040503050406030204" pitchFamily="18" charset="0"/>
              </a:rPr>
              <a:t>Tourism Review</a:t>
            </a:r>
            <a:r>
              <a:rPr lang="en-US" sz="2000" dirty="0">
                <a:latin typeface="Cambria" panose="02040503050406030204" pitchFamily="18" charset="0"/>
                <a:ea typeface="Cambria" panose="02040503050406030204" pitchFamily="18" charset="0"/>
              </a:rPr>
              <a:t>, vol. 74, no. 3, pp. 482–496, 2019.</a:t>
            </a:r>
            <a:br>
              <a:rPr lang="en-US" sz="2000" dirty="0">
                <a:latin typeface="Cambria" panose="02040503050406030204" pitchFamily="18" charset="0"/>
                <a:ea typeface="Cambria" panose="02040503050406030204" pitchFamily="18" charset="0"/>
              </a:rPr>
            </a:b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P. Urry and J. Larsen, </a:t>
            </a:r>
            <a:r>
              <a:rPr lang="en-US" sz="2000" i="1" dirty="0">
                <a:latin typeface="Cambria" panose="02040503050406030204" pitchFamily="18" charset="0"/>
                <a:ea typeface="Cambria" panose="02040503050406030204" pitchFamily="18" charset="0"/>
              </a:rPr>
              <a:t>The Tourist Gaze 3.0</a:t>
            </a:r>
            <a:r>
              <a:rPr lang="en-US" sz="2000" dirty="0">
                <a:latin typeface="Cambria" panose="02040503050406030204" pitchFamily="18" charset="0"/>
                <a:ea typeface="Cambria" panose="02040503050406030204" pitchFamily="18" charset="0"/>
              </a:rPr>
              <a:t>, Sage Publications, 2011.</a:t>
            </a:r>
            <a:br>
              <a:rPr lang="en-US" sz="2000" dirty="0">
                <a:latin typeface="Cambria" panose="02040503050406030204" pitchFamily="18" charset="0"/>
                <a:ea typeface="Cambria" panose="02040503050406030204" pitchFamily="18" charset="0"/>
              </a:rPr>
            </a:br>
            <a:endParaRPr lang="en-US" sz="2000" dirty="0">
              <a:latin typeface="Cambria" panose="02040503050406030204" pitchFamily="18" charset="0"/>
              <a:ea typeface="Cambria" panose="02040503050406030204" pitchFamily="18" charset="0"/>
            </a:endParaRPr>
          </a:p>
          <a:p>
            <a:r>
              <a:rPr lang="en-US" sz="2000" dirty="0">
                <a:latin typeface="Cambria" panose="02040503050406030204" pitchFamily="18" charset="0"/>
                <a:ea typeface="Cambria" panose="02040503050406030204" pitchFamily="18" charset="0"/>
              </a:rPr>
              <a:t>B. Tussyadiah, “Technology and behavioral design in tourism experience,” </a:t>
            </a:r>
            <a:r>
              <a:rPr lang="en-US" sz="2000" i="1" dirty="0">
                <a:latin typeface="Cambria" panose="02040503050406030204" pitchFamily="18" charset="0"/>
                <a:ea typeface="Cambria" panose="02040503050406030204" pitchFamily="18" charset="0"/>
              </a:rPr>
              <a:t>Information Technology &amp; Tourism</a:t>
            </a:r>
            <a:r>
              <a:rPr lang="en-US" sz="2000" dirty="0">
                <a:latin typeface="Cambria" panose="02040503050406030204" pitchFamily="18" charset="0"/>
                <a:ea typeface="Cambria" panose="02040503050406030204" pitchFamily="18" charset="0"/>
              </a:rPr>
              <a:t>, vol. 19, pp. 1–2, 2018</a:t>
            </a:r>
            <a:r>
              <a:rPr lang="en-US" sz="2000" dirty="0" smtClean="0">
                <a:latin typeface="Cambria" panose="02040503050406030204" pitchFamily="18" charset="0"/>
                <a:ea typeface="Cambria" panose="02040503050406030204" pitchFamily="18" charset="0"/>
              </a:rPr>
              <a:t>.</a:t>
            </a:r>
          </a:p>
          <a:p>
            <a:endParaRPr lang="en-US" sz="2000" dirty="0" smtClean="0"/>
          </a:p>
          <a:p>
            <a:endParaRPr lang="en-US" sz="20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EB9D7B9A-C347-0592-BD26-594445409750}"/>
              </a:ext>
            </a:extLst>
          </p:cNvPr>
          <p:cNvSpPr txBox="1"/>
          <p:nvPr/>
        </p:nvSpPr>
        <p:spPr>
          <a:xfrm>
            <a:off x="838200" y="1261533"/>
            <a:ext cx="4597400" cy="400110"/>
          </a:xfrm>
          <a:prstGeom prst="rect">
            <a:avLst/>
          </a:prstGeom>
          <a:noFill/>
        </p:spPr>
        <p:txBody>
          <a:bodyPr wrap="square" rtlCol="0">
            <a:spAutoFit/>
          </a:bodyPr>
          <a:lstStyle/>
          <a:p>
            <a:r>
              <a:rPr lang="en-IN" sz="2000" b="1" dirty="0">
                <a:latin typeface="Cambria" panose="02040503050406030204" pitchFamily="18" charset="0"/>
                <a:ea typeface="Cambria" panose="02040503050406030204" pitchFamily="18" charset="0"/>
              </a:rPr>
              <a:t>Existing Methods and Drawbacks:</a:t>
            </a:r>
          </a:p>
        </p:txBody>
      </p:sp>
      <p:sp>
        <p:nvSpPr>
          <p:cNvPr id="5" name="TextBox 4">
            <a:extLst>
              <a:ext uri="{FF2B5EF4-FFF2-40B4-BE49-F238E27FC236}">
                <a16:creationId xmlns:a16="http://schemas.microsoft.com/office/drawing/2014/main" xmlns="" id="{B39280E7-BCB1-4587-2102-E4131B91B5F1}"/>
              </a:ext>
            </a:extLst>
          </p:cNvPr>
          <p:cNvSpPr txBox="1"/>
          <p:nvPr/>
        </p:nvSpPr>
        <p:spPr>
          <a:xfrm>
            <a:off x="838200" y="1661643"/>
            <a:ext cx="10303933" cy="3539430"/>
          </a:xfrm>
          <a:prstGeom prst="rect">
            <a:avLst/>
          </a:prstGeom>
          <a:noFill/>
        </p:spPr>
        <p:txBody>
          <a:bodyPr wrap="square" rtlCol="0">
            <a:spAutoFit/>
          </a:bodyPr>
          <a:lstStyle/>
          <a:p>
            <a:endParaRPr lang="en-IN" sz="1800" b="1"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Methods:</a:t>
            </a:r>
          </a:p>
          <a:p>
            <a:r>
              <a:rPr lang="en-IN" b="1" dirty="0">
                <a:latin typeface="Cambria" panose="02040503050406030204" pitchFamily="18" charset="0"/>
                <a:ea typeface="Cambria" panose="02040503050406030204" pitchFamily="18" charset="0"/>
              </a:rPr>
              <a:t>Machine Learning</a:t>
            </a:r>
            <a:r>
              <a:rPr lang="en-IN" dirty="0">
                <a:latin typeface="Cambria" panose="02040503050406030204" pitchFamily="18" charset="0"/>
                <a:ea typeface="Cambria" panose="02040503050406030204" pitchFamily="18" charset="0"/>
              </a:rPr>
              <a:t> – Applied to improve adaptive VR experiences (e.g., adjusting recommendations or visuals based on user interaction).</a:t>
            </a:r>
          </a:p>
          <a:p>
            <a:r>
              <a:rPr lang="en-IN" b="1" dirty="0">
                <a:latin typeface="Cambria" panose="02040503050406030204" pitchFamily="18" charset="0"/>
                <a:ea typeface="Cambria" panose="02040503050406030204" pitchFamily="18" charset="0"/>
              </a:rPr>
              <a:t>Data Processing</a:t>
            </a:r>
            <a:r>
              <a:rPr lang="en-IN" dirty="0">
                <a:latin typeface="Cambria" panose="02040503050406030204" pitchFamily="18" charset="0"/>
                <a:ea typeface="Cambria" panose="02040503050406030204" pitchFamily="18" charset="0"/>
              </a:rPr>
              <a:t> – Used cultural heritage datasets (artifacts, monuments, traditions) to create 3D/VR content.</a:t>
            </a:r>
          </a:p>
          <a:p>
            <a:r>
              <a:rPr lang="en-IN" b="1" dirty="0">
                <a:latin typeface="Cambria" panose="02040503050406030204" pitchFamily="18" charset="0"/>
                <a:ea typeface="Cambria" panose="02040503050406030204" pitchFamily="18" charset="0"/>
              </a:rPr>
              <a:t>Immersive System Architecture</a:t>
            </a:r>
            <a:r>
              <a:rPr lang="en-IN" dirty="0">
                <a:latin typeface="Cambria" panose="02040503050406030204" pitchFamily="18" charset="0"/>
                <a:ea typeface="Cambria" panose="02040503050406030204" pitchFamily="18" charset="0"/>
              </a:rPr>
              <a:t> – Designed VR modules with interactive UI, enabling 360° viewing, cultural storytelling, and guided navigation.</a:t>
            </a:r>
          </a:p>
          <a:p>
            <a:r>
              <a:rPr lang="en-IN" b="1" dirty="0">
                <a:latin typeface="Cambria" panose="02040503050406030204" pitchFamily="18" charset="0"/>
                <a:ea typeface="Cambria" panose="02040503050406030204" pitchFamily="18" charset="0"/>
              </a:rPr>
              <a:t>User Study/Experiments</a:t>
            </a:r>
            <a:r>
              <a:rPr lang="en-IN" dirty="0">
                <a:latin typeface="Cambria" panose="02040503050406030204" pitchFamily="18" charset="0"/>
                <a:ea typeface="Cambria" panose="02040503050406030204" pitchFamily="18" charset="0"/>
              </a:rPr>
              <a:t> – Tested VR attributes with participants to measure how well these tools improved cultural learning.</a:t>
            </a:r>
          </a:p>
          <a:p>
            <a:endParaRPr lang="en-IN" sz="1800" b="1" dirty="0">
              <a:latin typeface="Cambria" panose="02040503050406030204" pitchFamily="18" charset="0"/>
              <a:ea typeface="Cambria" panose="02040503050406030204" pitchFamily="18" charset="0"/>
            </a:endParaRPr>
          </a:p>
          <a:p>
            <a:r>
              <a:rPr lang="en-IN" sz="1800" b="1" dirty="0">
                <a:latin typeface="Cambria" panose="02040503050406030204" pitchFamily="18" charset="0"/>
                <a:ea typeface="Cambria" panose="02040503050406030204" pitchFamily="18" charset="0"/>
              </a:rPr>
              <a:t>Drawbacks:</a:t>
            </a:r>
          </a:p>
          <a:p>
            <a:r>
              <a:rPr lang="en-US" b="1" dirty="0">
                <a:latin typeface="Cambria" panose="02040503050406030204" pitchFamily="18" charset="0"/>
                <a:ea typeface="Cambria" panose="02040503050406030204" pitchFamily="18" charset="0"/>
              </a:rPr>
              <a:t>Data Bias</a:t>
            </a:r>
            <a:r>
              <a:rPr lang="en-US" dirty="0">
                <a:latin typeface="Cambria" panose="02040503050406030204" pitchFamily="18" charset="0"/>
                <a:ea typeface="Cambria" panose="02040503050406030204" pitchFamily="18" charset="0"/>
              </a:rPr>
              <a:t> – Cultural datasets used may exclude smaller or minority heritage sites, focusing mostly on popular attractions.</a:t>
            </a:r>
          </a:p>
          <a:p>
            <a:r>
              <a:rPr lang="en-US" b="1" dirty="0">
                <a:latin typeface="Cambria" panose="02040503050406030204" pitchFamily="18" charset="0"/>
                <a:ea typeface="Cambria" panose="02040503050406030204" pitchFamily="18" charset="0"/>
              </a:rPr>
              <a:t>High Device Dependency</a:t>
            </a:r>
            <a:r>
              <a:rPr lang="en-US" dirty="0">
                <a:latin typeface="Cambria" panose="02040503050406030204" pitchFamily="18" charset="0"/>
                <a:ea typeface="Cambria" panose="02040503050406030204" pitchFamily="18" charset="0"/>
              </a:rPr>
              <a:t> – Requires VR headsets or high-end devices, limiting accessibility for budget-conscious or rural users.</a:t>
            </a:r>
          </a:p>
          <a:p>
            <a:r>
              <a:rPr lang="en-US" b="1" dirty="0">
                <a:latin typeface="Cambria" panose="02040503050406030204" pitchFamily="18" charset="0"/>
                <a:ea typeface="Cambria" panose="02040503050406030204" pitchFamily="18" charset="0"/>
              </a:rPr>
              <a:t>User Error</a:t>
            </a:r>
            <a:r>
              <a:rPr lang="en-US" dirty="0">
                <a:latin typeface="Cambria" panose="02040503050406030204" pitchFamily="18" charset="0"/>
                <a:ea typeface="Cambria" panose="02040503050406030204" pitchFamily="18" charset="0"/>
              </a:rPr>
              <a:t> – Some users, especially non-tech-savvy tourists, may find navigating VR interfaces confusing.</a:t>
            </a:r>
          </a:p>
          <a:p>
            <a:r>
              <a:rPr lang="en-US" b="1" dirty="0">
                <a:latin typeface="Cambria" panose="02040503050406030204" pitchFamily="18" charset="0"/>
                <a:ea typeface="Cambria" panose="02040503050406030204" pitchFamily="18" charset="0"/>
              </a:rPr>
              <a:t>Privacy Concerns</a:t>
            </a:r>
            <a:r>
              <a:rPr lang="en-US" dirty="0">
                <a:latin typeface="Cambria" panose="02040503050406030204" pitchFamily="18" charset="0"/>
                <a:ea typeface="Cambria" panose="02040503050406030204" pitchFamily="18" charset="0"/>
              </a:rPr>
              <a:t> – VR applications can collect sensitive behavioral or biometric data, which raises security issues.</a:t>
            </a:r>
          </a:p>
          <a:p>
            <a:endParaRPr lang="en-IN" sz="1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xmlns="" val="1396353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E834371E-CF76-0AAF-23DE-AE0BF12E9F50}"/>
              </a:ext>
            </a:extLst>
          </p:cNvPr>
          <p:cNvSpPr txBox="1"/>
          <p:nvPr/>
        </p:nvSpPr>
        <p:spPr>
          <a:xfrm>
            <a:off x="897467" y="1295400"/>
            <a:ext cx="10083800" cy="3139321"/>
          </a:xfrm>
          <a:prstGeom prst="rect">
            <a:avLst/>
          </a:prstGeom>
          <a:noFill/>
        </p:spPr>
        <p:txBody>
          <a:bodyPr wrap="square" rtlCol="0">
            <a:spAutoFit/>
          </a:bodyPr>
          <a:lstStyle/>
          <a:p>
            <a:r>
              <a:rPr lang="en-US" sz="2200" b="1" dirty="0">
                <a:latin typeface="Cambria" panose="02040503050406030204" pitchFamily="18" charset="0"/>
                <a:ea typeface="Cambria" panose="02040503050406030204" pitchFamily="18" charset="0"/>
              </a:rPr>
              <a:t>Solution : </a:t>
            </a:r>
          </a:p>
          <a:p>
            <a:endParaRPr lang="en-US"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In this project, our focus is not only on technology but primarily on activity-based, culture-driven tourism that highlights on-site experiences such as festivals, traditional art workshops, local cuisine, and folklore activities. </a:t>
            </a:r>
          </a:p>
          <a:p>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While we integrate digital features like recommendations, 360° virtual previews these are only supportive tools. </a:t>
            </a:r>
          </a:p>
          <a:p>
            <a:endParaRPr lang="en-US" sz="1800" dirty="0">
              <a:latin typeface="Cambria" panose="02040503050406030204" pitchFamily="18" charset="0"/>
              <a:ea typeface="Cambria" panose="02040503050406030204" pitchFamily="18" charset="0"/>
            </a:endParaRPr>
          </a:p>
          <a:p>
            <a:r>
              <a:rPr lang="en-US" sz="1800" dirty="0">
                <a:latin typeface="Cambria" panose="02040503050406030204" pitchFamily="18" charset="0"/>
                <a:ea typeface="Cambria" panose="02040503050406030204" pitchFamily="18" charset="0"/>
              </a:rPr>
              <a:t>The main emphasis lies in promoting cultural ideologies, heritage preservation, and community participation, rather than on building advanced technical systems alone</a:t>
            </a: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xmlns="" val="651529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762000" y="1413934"/>
            <a:ext cx="10668000" cy="4953000"/>
          </a:xfrm>
          <a:prstGeom prst="rect">
            <a:avLst/>
          </a:prstGeom>
          <a:noFill/>
          <a:ln>
            <a:noFill/>
          </a:ln>
        </p:spPr>
        <p:txBody>
          <a:bodyPr spcFirstLastPara="1" wrap="square" lIns="91425" tIns="45700" rIns="91425" bIns="45700" anchor="t" anchorCtr="0">
            <a:normAutofit/>
          </a:bodyPr>
          <a:lstStyle/>
          <a:p>
            <a:pPr marL="76200" indent="0" algn="just">
              <a:buNone/>
            </a:pPr>
            <a:r>
              <a:rPr lang="en-US" sz="2000" b="1" dirty="0">
                <a:latin typeface="Cambria" panose="02040503050406030204" pitchFamily="18" charset="0"/>
                <a:ea typeface="Cambria" panose="02040503050406030204" pitchFamily="18" charset="0"/>
              </a:rPr>
              <a:t>ABSTRACT:</a:t>
            </a:r>
          </a:p>
          <a:p>
            <a:pPr algn="just"/>
            <a:r>
              <a:rPr lang="en-US" sz="1600" dirty="0">
                <a:latin typeface="Cambria" panose="02040503050406030204" pitchFamily="18" charset="0"/>
                <a:ea typeface="Cambria" panose="02040503050406030204" pitchFamily="18" charset="0"/>
              </a:rPr>
              <a:t>The Culture-Oriented Tourism Development Portal is a full-stack web platform designed to promote cultural heritage and community-based tourism. The system connects tourists, local cultural communities, guides, and tourism boards to create a sustainable and engaging travel ecosystem.</a:t>
            </a:r>
          </a:p>
          <a:p>
            <a:pPr algn="just"/>
            <a:r>
              <a:rPr lang="en-US" sz="1600" dirty="0">
                <a:latin typeface="Cambria" panose="02040503050406030204" pitchFamily="18" charset="0"/>
                <a:ea typeface="Cambria" panose="02040503050406030204" pitchFamily="18" charset="0"/>
              </a:rPr>
              <a:t>The platform will allow tourists to explore destinations through a cultural lens—including local festivals, cuisines, handicrafts, art forms, historical monuments, and folklore. Features include virtual tours of heritage sites, personalized itineraries based on cultural interests, booking local homestays, connecting with certified guides, cultural event listings, and e-commerce integration for handicrafts and souvenirs.</a:t>
            </a:r>
          </a:p>
          <a:p>
            <a:pPr algn="just"/>
            <a:r>
              <a:rPr lang="en-US" sz="1600" dirty="0">
                <a:latin typeface="Cambria" panose="02040503050406030204" pitchFamily="18" charset="0"/>
                <a:ea typeface="Cambria" panose="02040503050406030204" pitchFamily="18" charset="0"/>
              </a:rPr>
              <a:t>Local communities and artisans can use the portal to showcase their traditions and services, while government/tourism boards can manage content, approvals, and promotions. The system leverages geolocation and multimedia storytelling.</a:t>
            </a:r>
          </a:p>
          <a:p>
            <a:pPr algn="just"/>
            <a:r>
              <a:rPr lang="en-US" sz="1600" dirty="0">
                <a:latin typeface="Cambria" panose="02040503050406030204" pitchFamily="18" charset="0"/>
                <a:ea typeface="Cambria" panose="02040503050406030204" pitchFamily="18" charset="0"/>
              </a:rPr>
              <a:t>This project aims to digitally preserve cultural heritage, empower local communities, and enhance tourism development by shifting the focus from conventional sightseeing to authentic cultural engagement. By integrating technology with culture, the portal supports sustainable tourism, cultural preservation, and economic upliftment of local communities.</a:t>
            </a:r>
          </a:p>
          <a:p>
            <a:pPr marL="342900" lvl="0" indent="-190500" algn="just" rtl="0">
              <a:lnSpc>
                <a:spcPct val="200000"/>
              </a:lnSpc>
              <a:spcBef>
                <a:spcPts val="0"/>
              </a:spcBef>
              <a:spcAft>
                <a:spcPts val="0"/>
              </a:spcAft>
              <a:buClr>
                <a:schemeClr val="dk1"/>
              </a:buClr>
              <a:buSzPct val="100000"/>
              <a:buNone/>
            </a:pPr>
            <a:endParaRPr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xmlns=""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Cambria" pitchFamily="18" charset="0"/>
                <a:ea typeface="Cambria" pitchFamily="18" charset="0"/>
              </a:rPr>
              <a:t>Proposed System</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p:txBody>
          <a:bodyPr/>
          <a:lstStyle/>
          <a:p>
            <a:r>
              <a:rPr lang="en-US" dirty="0" smtClean="0">
                <a:latin typeface="Cambria" pitchFamily="18" charset="0"/>
                <a:ea typeface="Cambria" pitchFamily="18" charset="0"/>
              </a:rPr>
              <a:t>Cultural information system listing important places</a:t>
            </a:r>
          </a:p>
          <a:p>
            <a:r>
              <a:rPr lang="en-US" dirty="0" smtClean="0">
                <a:latin typeface="Cambria" pitchFamily="18" charset="0"/>
                <a:ea typeface="Cambria" pitchFamily="18" charset="0"/>
              </a:rPr>
              <a:t>Each place includes:</a:t>
            </a:r>
            <a:br>
              <a:rPr lang="en-US" dirty="0" smtClean="0">
                <a:latin typeface="Cambria" pitchFamily="18" charset="0"/>
                <a:ea typeface="Cambria" pitchFamily="18" charset="0"/>
              </a:rPr>
            </a:br>
            <a:r>
              <a:rPr lang="en-US" dirty="0" smtClean="0">
                <a:latin typeface="Cambria" pitchFamily="18" charset="0"/>
                <a:ea typeface="Cambria" pitchFamily="18" charset="0"/>
              </a:rPr>
              <a:t> Title</a:t>
            </a:r>
            <a:r>
              <a:rPr lang="en-US" dirty="0" smtClean="0">
                <a:latin typeface="Cambria" pitchFamily="18" charset="0"/>
                <a:ea typeface="Cambria" pitchFamily="18" charset="0"/>
              </a:rPr>
              <a:t/>
            </a:r>
            <a:br>
              <a:rPr lang="en-US" dirty="0" smtClean="0">
                <a:latin typeface="Cambria" pitchFamily="18" charset="0"/>
                <a:ea typeface="Cambria" pitchFamily="18" charset="0"/>
              </a:rPr>
            </a:br>
            <a:r>
              <a:rPr lang="en-US" dirty="0" smtClean="0">
                <a:latin typeface="Cambria" pitchFamily="18" charset="0"/>
                <a:ea typeface="Cambria" pitchFamily="18" charset="0"/>
              </a:rPr>
              <a:t> Description</a:t>
            </a:r>
            <a:r>
              <a:rPr lang="en-US" dirty="0" smtClean="0">
                <a:latin typeface="Cambria" pitchFamily="18" charset="0"/>
                <a:ea typeface="Cambria" pitchFamily="18" charset="0"/>
              </a:rPr>
              <a:t/>
            </a:r>
            <a:br>
              <a:rPr lang="en-US" dirty="0" smtClean="0">
                <a:latin typeface="Cambria" pitchFamily="18" charset="0"/>
                <a:ea typeface="Cambria" pitchFamily="18" charset="0"/>
              </a:rPr>
            </a:br>
            <a:r>
              <a:rPr lang="en-US" dirty="0" smtClean="0">
                <a:latin typeface="Cambria" pitchFamily="18" charset="0"/>
                <a:ea typeface="Cambria" pitchFamily="18" charset="0"/>
              </a:rPr>
              <a:t> Image</a:t>
            </a:r>
            <a:endParaRPr lang="en-US" dirty="0" smtClean="0">
              <a:latin typeface="Cambria" pitchFamily="18" charset="0"/>
              <a:ea typeface="Cambria" pitchFamily="18" charset="0"/>
            </a:endParaRPr>
          </a:p>
          <a:p>
            <a:r>
              <a:rPr lang="en-US" dirty="0" smtClean="0">
                <a:latin typeface="Cambria" pitchFamily="18" charset="0"/>
                <a:ea typeface="Cambria" pitchFamily="18" charset="0"/>
              </a:rPr>
              <a:t>Services connected to the place:</a:t>
            </a:r>
            <a:br>
              <a:rPr lang="en-US" dirty="0" smtClean="0">
                <a:latin typeface="Cambria" pitchFamily="18" charset="0"/>
                <a:ea typeface="Cambria" pitchFamily="18" charset="0"/>
              </a:rPr>
            </a:br>
            <a:r>
              <a:rPr lang="en-US" dirty="0" smtClean="0">
                <a:latin typeface="Cambria" pitchFamily="18" charset="0"/>
                <a:ea typeface="Cambria" pitchFamily="18" charset="0"/>
              </a:rPr>
              <a:t> </a:t>
            </a:r>
            <a:r>
              <a:rPr lang="en-US" dirty="0" smtClean="0">
                <a:latin typeface="Cambria" pitchFamily="18" charset="0"/>
                <a:ea typeface="Cambria" pitchFamily="18" charset="0"/>
              </a:rPr>
              <a:t>Hotels</a:t>
            </a:r>
            <a:br>
              <a:rPr lang="en-US" dirty="0" smtClean="0">
                <a:latin typeface="Cambria" pitchFamily="18" charset="0"/>
                <a:ea typeface="Cambria" pitchFamily="18" charset="0"/>
              </a:rPr>
            </a:br>
            <a:r>
              <a:rPr lang="en-US" dirty="0" smtClean="0">
                <a:latin typeface="Cambria" pitchFamily="18" charset="0"/>
                <a:ea typeface="Cambria" pitchFamily="18" charset="0"/>
              </a:rPr>
              <a:t> </a:t>
            </a:r>
            <a:r>
              <a:rPr lang="en-US" dirty="0" smtClean="0">
                <a:latin typeface="Cambria" pitchFamily="18" charset="0"/>
                <a:ea typeface="Cambria" pitchFamily="18" charset="0"/>
              </a:rPr>
              <a:t>Transport</a:t>
            </a:r>
          </a:p>
          <a:p>
            <a:r>
              <a:rPr lang="en-US" dirty="0" smtClean="0">
                <a:latin typeface="Cambria" pitchFamily="18" charset="0"/>
                <a:ea typeface="Cambria" pitchFamily="18" charset="0"/>
              </a:rPr>
              <a:t>Booking system for tourists</a:t>
            </a:r>
          </a:p>
          <a:p>
            <a:r>
              <a:rPr lang="en-US" dirty="0" smtClean="0">
                <a:latin typeface="Cambria" pitchFamily="18" charset="0"/>
                <a:ea typeface="Cambria" pitchFamily="18" charset="0"/>
              </a:rPr>
              <a:t>Admin dashboard for content management</a:t>
            </a:r>
          </a:p>
          <a:p>
            <a:r>
              <a:rPr lang="en-US" dirty="0" smtClean="0">
                <a:latin typeface="Cambria" pitchFamily="18" charset="0"/>
                <a:ea typeface="Cambria" pitchFamily="18" charset="0"/>
              </a:rPr>
              <a:t>Fully responsive UI using Bootstrap</a:t>
            </a:r>
          </a:p>
          <a:p>
            <a:endParaRPr lang="en-US" dirty="0">
              <a:latin typeface="Cambria" pitchFamily="18" charset="0"/>
              <a:ea typeface="Cambria"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Cambria" pitchFamily="18" charset="0"/>
                <a:ea typeface="Cambria" pitchFamily="18" charset="0"/>
              </a:rPr>
              <a:t>Detailed Functionality</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p:txBody>
          <a:bodyPr>
            <a:normAutofit lnSpcReduction="10000"/>
          </a:bodyPr>
          <a:lstStyle/>
          <a:p>
            <a:r>
              <a:rPr lang="en-US" b="1" dirty="0" smtClean="0">
                <a:latin typeface="Cambria" pitchFamily="18" charset="0"/>
                <a:ea typeface="Cambria" pitchFamily="18" charset="0"/>
              </a:rPr>
              <a:t>Homepage (index.html):</a:t>
            </a:r>
            <a:r>
              <a:rPr lang="en-US" dirty="0" smtClean="0">
                <a:latin typeface="Cambria" pitchFamily="18" charset="0"/>
                <a:ea typeface="Cambria" pitchFamily="18" charset="0"/>
              </a:rPr>
              <a:t> Displays all cultural places</a:t>
            </a:r>
          </a:p>
          <a:p>
            <a:r>
              <a:rPr lang="en-US" b="1" dirty="0" smtClean="0">
                <a:latin typeface="Cambria" pitchFamily="18" charset="0"/>
                <a:ea typeface="Cambria" pitchFamily="18" charset="0"/>
              </a:rPr>
              <a:t>Place Detail Page (place_detail.html):</a:t>
            </a:r>
            <a:endParaRPr lang="en-US" dirty="0" smtClean="0">
              <a:latin typeface="Cambria" pitchFamily="18" charset="0"/>
              <a:ea typeface="Cambria" pitchFamily="18" charset="0"/>
            </a:endParaRPr>
          </a:p>
          <a:p>
            <a:pPr>
              <a:buFont typeface="Wingdings" pitchFamily="2" charset="2"/>
              <a:buChar char="Ø"/>
            </a:pPr>
            <a:r>
              <a:rPr lang="en-US" dirty="0" smtClean="0">
                <a:latin typeface="Cambria" pitchFamily="18" charset="0"/>
                <a:ea typeface="Cambria" pitchFamily="18" charset="0"/>
              </a:rPr>
              <a:t>	Full </a:t>
            </a:r>
            <a:r>
              <a:rPr lang="en-US" dirty="0" smtClean="0">
                <a:latin typeface="Cambria" pitchFamily="18" charset="0"/>
                <a:ea typeface="Cambria" pitchFamily="18" charset="0"/>
              </a:rPr>
              <a:t>description</a:t>
            </a:r>
          </a:p>
          <a:p>
            <a:pPr>
              <a:buFont typeface="Wingdings" pitchFamily="2" charset="2"/>
              <a:buChar char="Ø"/>
            </a:pPr>
            <a:r>
              <a:rPr lang="en-US" dirty="0" smtClean="0">
                <a:latin typeface="Cambria" pitchFamily="18" charset="0"/>
                <a:ea typeface="Cambria" pitchFamily="18" charset="0"/>
              </a:rPr>
              <a:t>	Image</a:t>
            </a:r>
            <a:endParaRPr lang="en-US" dirty="0" smtClean="0">
              <a:latin typeface="Cambria" pitchFamily="18" charset="0"/>
              <a:ea typeface="Cambria" pitchFamily="18" charset="0"/>
            </a:endParaRPr>
          </a:p>
          <a:p>
            <a:pPr>
              <a:buFont typeface="Wingdings" pitchFamily="2" charset="2"/>
              <a:buChar char="Ø"/>
            </a:pPr>
            <a:r>
              <a:rPr lang="en-US" dirty="0" smtClean="0">
                <a:latin typeface="Cambria" pitchFamily="18" charset="0"/>
                <a:ea typeface="Cambria" pitchFamily="18" charset="0"/>
              </a:rPr>
              <a:t>	Available </a:t>
            </a:r>
            <a:r>
              <a:rPr lang="en-US" dirty="0" smtClean="0">
                <a:latin typeface="Cambria" pitchFamily="18" charset="0"/>
                <a:ea typeface="Cambria" pitchFamily="18" charset="0"/>
              </a:rPr>
              <a:t>services</a:t>
            </a:r>
          </a:p>
          <a:p>
            <a:r>
              <a:rPr lang="en-US" b="1" dirty="0" smtClean="0">
                <a:latin typeface="Cambria" pitchFamily="18" charset="0"/>
                <a:ea typeface="Cambria" pitchFamily="18" charset="0"/>
              </a:rPr>
              <a:t>Book Services (book_services.html):</a:t>
            </a:r>
            <a:r>
              <a:rPr lang="en-US" dirty="0" smtClean="0">
                <a:latin typeface="Cambria" pitchFamily="18" charset="0"/>
                <a:ea typeface="Cambria" pitchFamily="18" charset="0"/>
              </a:rPr>
              <a:t> Hotel/transport options</a:t>
            </a:r>
          </a:p>
          <a:p>
            <a:r>
              <a:rPr lang="en-US" b="1" dirty="0" smtClean="0">
                <a:latin typeface="Cambria" pitchFamily="18" charset="0"/>
                <a:ea typeface="Cambria" pitchFamily="18" charset="0"/>
              </a:rPr>
              <a:t>Booking Form:</a:t>
            </a:r>
            <a:r>
              <a:rPr lang="en-US" dirty="0" smtClean="0">
                <a:latin typeface="Cambria" pitchFamily="18" charset="0"/>
                <a:ea typeface="Cambria" pitchFamily="18" charset="0"/>
              </a:rPr>
              <a:t> User fills details</a:t>
            </a:r>
          </a:p>
          <a:p>
            <a:r>
              <a:rPr lang="en-US" b="1" dirty="0" smtClean="0">
                <a:latin typeface="Cambria" pitchFamily="18" charset="0"/>
                <a:ea typeface="Cambria" pitchFamily="18" charset="0"/>
              </a:rPr>
              <a:t>Admin Panels:</a:t>
            </a:r>
            <a:endParaRPr lang="en-US" dirty="0" smtClean="0">
              <a:latin typeface="Cambria" pitchFamily="18" charset="0"/>
              <a:ea typeface="Cambria" pitchFamily="18" charset="0"/>
            </a:endParaRPr>
          </a:p>
          <a:p>
            <a:pPr>
              <a:buFont typeface="Wingdings" pitchFamily="2" charset="2"/>
              <a:buChar char="Ø"/>
            </a:pPr>
            <a:r>
              <a:rPr lang="en-US" dirty="0" smtClean="0">
                <a:latin typeface="Cambria" pitchFamily="18" charset="0"/>
                <a:ea typeface="Cambria" pitchFamily="18" charset="0"/>
              </a:rPr>
              <a:t>	Add </a:t>
            </a:r>
            <a:r>
              <a:rPr lang="en-US" dirty="0" smtClean="0">
                <a:latin typeface="Cambria" pitchFamily="18" charset="0"/>
                <a:ea typeface="Cambria" pitchFamily="18" charset="0"/>
              </a:rPr>
              <a:t>place</a:t>
            </a:r>
          </a:p>
          <a:p>
            <a:pPr>
              <a:buFont typeface="Wingdings" pitchFamily="2" charset="2"/>
              <a:buChar char="Ø"/>
            </a:pPr>
            <a:r>
              <a:rPr lang="en-US" dirty="0" smtClean="0">
                <a:latin typeface="Cambria" pitchFamily="18" charset="0"/>
                <a:ea typeface="Cambria" pitchFamily="18" charset="0"/>
              </a:rPr>
              <a:t>	Add </a:t>
            </a:r>
            <a:r>
              <a:rPr lang="en-US" dirty="0" smtClean="0">
                <a:latin typeface="Cambria" pitchFamily="18" charset="0"/>
                <a:ea typeface="Cambria" pitchFamily="18" charset="0"/>
              </a:rPr>
              <a:t>hotel</a:t>
            </a:r>
          </a:p>
          <a:p>
            <a:pPr>
              <a:buFont typeface="Wingdings" pitchFamily="2" charset="2"/>
              <a:buChar char="Ø"/>
            </a:pPr>
            <a:r>
              <a:rPr lang="en-US" dirty="0" smtClean="0">
                <a:latin typeface="Cambria" pitchFamily="18" charset="0"/>
                <a:ea typeface="Cambria" pitchFamily="18" charset="0"/>
              </a:rPr>
              <a:t>	Add </a:t>
            </a:r>
            <a:r>
              <a:rPr lang="en-US" dirty="0" smtClean="0">
                <a:latin typeface="Cambria" pitchFamily="18" charset="0"/>
                <a:ea typeface="Cambria" pitchFamily="18" charset="0"/>
              </a:rPr>
              <a:t>transport</a:t>
            </a:r>
          </a:p>
          <a:p>
            <a:pPr>
              <a:buFont typeface="Wingdings" pitchFamily="2" charset="2"/>
              <a:buChar char="Ø"/>
            </a:pPr>
            <a:r>
              <a:rPr lang="en-US" dirty="0" smtClean="0">
                <a:latin typeface="Cambria" pitchFamily="18" charset="0"/>
                <a:ea typeface="Cambria" pitchFamily="18" charset="0"/>
              </a:rPr>
              <a:t>	Manage </a:t>
            </a:r>
            <a:r>
              <a:rPr lang="en-US" dirty="0" smtClean="0">
                <a:latin typeface="Cambria" pitchFamily="18" charset="0"/>
                <a:ea typeface="Cambria" pitchFamily="18" charset="0"/>
              </a:rPr>
              <a:t>bookings</a:t>
            </a:r>
          </a:p>
          <a:p>
            <a:endParaRPr lang="en-US" dirty="0">
              <a:latin typeface="Cambria" pitchFamily="18" charset="0"/>
              <a:ea typeface="Cambria"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Cambria" pitchFamily="18" charset="0"/>
                <a:ea typeface="Cambria" pitchFamily="18" charset="0"/>
              </a:rPr>
              <a:t>Testing &amp; Validation</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p:txBody>
          <a:bodyPr/>
          <a:lstStyle/>
          <a:p>
            <a:endParaRPr lang="en-US" dirty="0" smtClean="0">
              <a:latin typeface="Cambria" pitchFamily="18" charset="0"/>
              <a:ea typeface="Cambria" pitchFamily="18" charset="0"/>
            </a:endParaRPr>
          </a:p>
          <a:p>
            <a:r>
              <a:rPr lang="en-US" dirty="0" smtClean="0">
                <a:latin typeface="Cambria" pitchFamily="18" charset="0"/>
                <a:ea typeface="Cambria" pitchFamily="18" charset="0"/>
              </a:rPr>
              <a:t>Tested </a:t>
            </a:r>
            <a:r>
              <a:rPr lang="en-US" dirty="0" smtClean="0">
                <a:latin typeface="Cambria" pitchFamily="18" charset="0"/>
                <a:ea typeface="Cambria" pitchFamily="18" charset="0"/>
              </a:rPr>
              <a:t>user module — navigation, booking, form submissions</a:t>
            </a:r>
          </a:p>
          <a:p>
            <a:r>
              <a:rPr lang="en-US" dirty="0" smtClean="0">
                <a:latin typeface="Cambria" pitchFamily="18" charset="0"/>
                <a:ea typeface="Cambria" pitchFamily="18" charset="0"/>
              </a:rPr>
              <a:t>Tested admin operations — add/edit/delete</a:t>
            </a:r>
          </a:p>
          <a:p>
            <a:r>
              <a:rPr lang="en-US" dirty="0" smtClean="0">
                <a:latin typeface="Cambria" pitchFamily="18" charset="0"/>
                <a:ea typeface="Cambria" pitchFamily="18" charset="0"/>
              </a:rPr>
              <a:t>Database integrated testing</a:t>
            </a:r>
          </a:p>
          <a:p>
            <a:r>
              <a:rPr lang="en-US" dirty="0" smtClean="0">
                <a:latin typeface="Cambria" pitchFamily="18" charset="0"/>
                <a:ea typeface="Cambria" pitchFamily="18" charset="0"/>
              </a:rPr>
              <a:t>Responsive UI testing</a:t>
            </a:r>
          </a:p>
          <a:p>
            <a:r>
              <a:rPr lang="en-US" dirty="0" smtClean="0">
                <a:latin typeface="Cambria" pitchFamily="18" charset="0"/>
                <a:ea typeface="Cambria" pitchFamily="18" charset="0"/>
              </a:rPr>
              <a:t>Verified booking flow from start → success</a:t>
            </a:r>
          </a:p>
          <a:p>
            <a:r>
              <a:rPr lang="en-US" dirty="0" smtClean="0">
                <a:latin typeface="Cambria" pitchFamily="18" charset="0"/>
                <a:ea typeface="Cambria" pitchFamily="18" charset="0"/>
              </a:rPr>
              <a:t>No major bugs found after debugging</a:t>
            </a:r>
          </a:p>
          <a:p>
            <a:endParaRPr lang="en-US" dirty="0">
              <a:latin typeface="Cambria" pitchFamily="18" charset="0"/>
              <a:ea typeface="Cambria"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latin typeface="Cambria" pitchFamily="18" charset="0"/>
                <a:ea typeface="Cambria" pitchFamily="18" charset="0"/>
              </a:rPr>
              <a:t>Challenges Faced</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p:txBody>
          <a:bodyPr/>
          <a:lstStyle/>
          <a:p>
            <a:endParaRPr lang="en-US" dirty="0" smtClean="0">
              <a:latin typeface="Cambria" pitchFamily="18" charset="0"/>
              <a:ea typeface="Cambria" pitchFamily="18" charset="0"/>
            </a:endParaRPr>
          </a:p>
          <a:p>
            <a:r>
              <a:rPr lang="en-US" dirty="0" smtClean="0">
                <a:latin typeface="Cambria" pitchFamily="18" charset="0"/>
                <a:ea typeface="Cambria" pitchFamily="18" charset="0"/>
              </a:rPr>
              <a:t>Template </a:t>
            </a:r>
            <a:r>
              <a:rPr lang="en-US" dirty="0" smtClean="0">
                <a:latin typeface="Cambria" pitchFamily="18" charset="0"/>
                <a:ea typeface="Cambria" pitchFamily="18" charset="0"/>
              </a:rPr>
              <a:t>linking issues</a:t>
            </a:r>
          </a:p>
          <a:p>
            <a:r>
              <a:rPr lang="en-US" dirty="0" smtClean="0">
                <a:latin typeface="Cambria" pitchFamily="18" charset="0"/>
                <a:ea typeface="Cambria" pitchFamily="18" charset="0"/>
              </a:rPr>
              <a:t>Routing &amp; URL handling</a:t>
            </a:r>
          </a:p>
          <a:p>
            <a:r>
              <a:rPr lang="en-US" dirty="0" smtClean="0">
                <a:latin typeface="Cambria" pitchFamily="18" charset="0"/>
                <a:ea typeface="Cambria" pitchFamily="18" charset="0"/>
              </a:rPr>
              <a:t>Database relationship handling</a:t>
            </a:r>
          </a:p>
          <a:p>
            <a:r>
              <a:rPr lang="en-US" dirty="0" smtClean="0">
                <a:latin typeface="Cambria" pitchFamily="18" charset="0"/>
                <a:ea typeface="Cambria" pitchFamily="18" charset="0"/>
              </a:rPr>
              <a:t>Handling multiple services per place</a:t>
            </a:r>
          </a:p>
          <a:p>
            <a:r>
              <a:rPr lang="en-US" dirty="0" smtClean="0">
                <a:latin typeface="Cambria" pitchFamily="18" charset="0"/>
                <a:ea typeface="Cambria" pitchFamily="18" charset="0"/>
              </a:rPr>
              <a:t>UI alignment adjustments</a:t>
            </a:r>
          </a:p>
          <a:p>
            <a:r>
              <a:rPr lang="en-US" dirty="0" smtClean="0">
                <a:latin typeface="Cambria" pitchFamily="18" charset="0"/>
                <a:ea typeface="Cambria" pitchFamily="18" charset="0"/>
              </a:rPr>
              <a:t>Flask environment setup</a:t>
            </a:r>
          </a:p>
          <a:p>
            <a:endParaRPr lang="en-US" dirty="0">
              <a:latin typeface="Cambria" pitchFamily="18" charset="0"/>
              <a:ea typeface="Cambria"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dirty="0" smtClean="0">
                <a:latin typeface="Cambria" pitchFamily="18" charset="0"/>
                <a:ea typeface="Cambria" pitchFamily="18" charset="0"/>
              </a:rPr>
              <a:t>Project Screenshots</a:t>
            </a:r>
            <a:endParaRPr lang="en-US" sz="3200" dirty="0">
              <a:latin typeface="Cambria" pitchFamily="18" charset="0"/>
              <a:ea typeface="Cambria" pitchFamily="18" charset="0"/>
            </a:endParaRPr>
          </a:p>
        </p:txBody>
      </p:sp>
      <p:sp>
        <p:nvSpPr>
          <p:cNvPr id="5" name="Text Placeholder 4"/>
          <p:cNvSpPr>
            <a:spLocks noGrp="1"/>
          </p:cNvSpPr>
          <p:nvPr>
            <p:ph type="body" idx="1"/>
          </p:nvPr>
        </p:nvSpPr>
        <p:spPr>
          <a:xfrm>
            <a:off x="0" y="971550"/>
            <a:ext cx="12192000" cy="5886449"/>
          </a:xfrm>
        </p:spPr>
        <p:txBody>
          <a:bodyPr/>
          <a:lstStyle/>
          <a:p>
            <a:endParaRPr lang="en-US" dirty="0"/>
          </a:p>
        </p:txBody>
      </p:sp>
      <p:pic>
        <p:nvPicPr>
          <p:cNvPr id="12" name="Picture 11" descr="Screenshot 2025-12-03 092717.png"/>
          <p:cNvPicPr>
            <a:picLocks noChangeAspect="1"/>
          </p:cNvPicPr>
          <p:nvPr/>
        </p:nvPicPr>
        <p:blipFill>
          <a:blip r:embed="rId2"/>
          <a:stretch>
            <a:fillRect/>
          </a:stretch>
        </p:blipFill>
        <p:spPr>
          <a:xfrm>
            <a:off x="500062" y="982436"/>
            <a:ext cx="3186113" cy="2346553"/>
          </a:xfrm>
          <a:prstGeom prst="rect">
            <a:avLst/>
          </a:prstGeom>
        </p:spPr>
      </p:pic>
      <p:pic>
        <p:nvPicPr>
          <p:cNvPr id="13" name="Picture 12" descr="Screenshot 2025-12-03 092746.png"/>
          <p:cNvPicPr>
            <a:picLocks noChangeAspect="1"/>
          </p:cNvPicPr>
          <p:nvPr/>
        </p:nvPicPr>
        <p:blipFill>
          <a:blip r:embed="rId3"/>
          <a:stretch>
            <a:fillRect/>
          </a:stretch>
        </p:blipFill>
        <p:spPr>
          <a:xfrm>
            <a:off x="4157662" y="1028700"/>
            <a:ext cx="3786187" cy="2343150"/>
          </a:xfrm>
          <a:prstGeom prst="rect">
            <a:avLst/>
          </a:prstGeom>
        </p:spPr>
      </p:pic>
      <p:pic>
        <p:nvPicPr>
          <p:cNvPr id="14" name="Picture 13" descr="Screenshot 2025-12-03 092805.png"/>
          <p:cNvPicPr>
            <a:picLocks noChangeAspect="1"/>
          </p:cNvPicPr>
          <p:nvPr/>
        </p:nvPicPr>
        <p:blipFill>
          <a:blip r:embed="rId4"/>
          <a:stretch>
            <a:fillRect/>
          </a:stretch>
        </p:blipFill>
        <p:spPr>
          <a:xfrm>
            <a:off x="8429626" y="1039383"/>
            <a:ext cx="3471862" cy="2403905"/>
          </a:xfrm>
          <a:prstGeom prst="rect">
            <a:avLst/>
          </a:prstGeom>
        </p:spPr>
      </p:pic>
      <p:pic>
        <p:nvPicPr>
          <p:cNvPr id="15" name="Picture 14" descr="Screenshot 2025-12-03 092832.png"/>
          <p:cNvPicPr>
            <a:picLocks noChangeAspect="1"/>
          </p:cNvPicPr>
          <p:nvPr/>
        </p:nvPicPr>
        <p:blipFill>
          <a:blip r:embed="rId5"/>
          <a:stretch>
            <a:fillRect/>
          </a:stretch>
        </p:blipFill>
        <p:spPr>
          <a:xfrm>
            <a:off x="290010" y="3652442"/>
            <a:ext cx="3610477" cy="2605483"/>
          </a:xfrm>
          <a:prstGeom prst="rect">
            <a:avLst/>
          </a:prstGeom>
        </p:spPr>
      </p:pic>
      <p:pic>
        <p:nvPicPr>
          <p:cNvPr id="18" name="Picture 17" descr="Screenshot 2025-12-03 092915.png"/>
          <p:cNvPicPr>
            <a:picLocks noChangeAspect="1"/>
          </p:cNvPicPr>
          <p:nvPr/>
        </p:nvPicPr>
        <p:blipFill>
          <a:blip r:embed="rId6"/>
          <a:stretch>
            <a:fillRect/>
          </a:stretch>
        </p:blipFill>
        <p:spPr>
          <a:xfrm>
            <a:off x="4156838" y="3685828"/>
            <a:ext cx="3872737" cy="2686397"/>
          </a:xfrm>
          <a:prstGeom prst="rect">
            <a:avLst/>
          </a:prstGeom>
        </p:spPr>
      </p:pic>
      <p:pic>
        <p:nvPicPr>
          <p:cNvPr id="19" name="Picture 18" descr="Screenshot 2025-12-03 092927.png"/>
          <p:cNvPicPr>
            <a:picLocks noChangeAspect="1"/>
          </p:cNvPicPr>
          <p:nvPr/>
        </p:nvPicPr>
        <p:blipFill>
          <a:blip r:embed="rId7"/>
          <a:stretch>
            <a:fillRect/>
          </a:stretch>
        </p:blipFill>
        <p:spPr>
          <a:xfrm>
            <a:off x="8438311" y="3729038"/>
            <a:ext cx="3506039" cy="260032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Results</a:t>
            </a:r>
            <a:endParaRPr lang="en-US" dirty="0"/>
          </a:p>
        </p:txBody>
      </p:sp>
      <p:sp>
        <p:nvSpPr>
          <p:cNvPr id="3" name="Text Placeholder 2"/>
          <p:cNvSpPr>
            <a:spLocks noGrp="1"/>
          </p:cNvSpPr>
          <p:nvPr>
            <p:ph type="body" idx="1"/>
          </p:nvPr>
        </p:nvSpPr>
        <p:spPr/>
        <p:txBody>
          <a:bodyPr/>
          <a:lstStyle/>
          <a:p>
            <a:r>
              <a:rPr lang="en-GB" dirty="0" smtClean="0">
                <a:latin typeface="Cambria" pitchFamily="18" charset="0"/>
                <a:ea typeface="Cambria" pitchFamily="18" charset="0"/>
              </a:rPr>
              <a:t>Fully functional tourism portal</a:t>
            </a:r>
          </a:p>
          <a:p>
            <a:r>
              <a:rPr lang="en-GB" dirty="0" smtClean="0">
                <a:latin typeface="Cambria" pitchFamily="18" charset="0"/>
                <a:ea typeface="Cambria" pitchFamily="18" charset="0"/>
              </a:rPr>
              <a:t>Seamless booking experience</a:t>
            </a:r>
          </a:p>
          <a:p>
            <a:r>
              <a:rPr lang="en-GB" dirty="0" smtClean="0">
                <a:latin typeface="Cambria" pitchFamily="18" charset="0"/>
                <a:ea typeface="Cambria" pitchFamily="18" charset="0"/>
              </a:rPr>
              <a:t>Clean admin interface</a:t>
            </a:r>
          </a:p>
          <a:p>
            <a:r>
              <a:rPr lang="en-GB" dirty="0" smtClean="0">
                <a:latin typeface="Cambria" pitchFamily="18" charset="0"/>
                <a:ea typeface="Cambria" pitchFamily="18" charset="0"/>
              </a:rPr>
              <a:t>Useful for cultural tourism promotion</a:t>
            </a:r>
          </a:p>
          <a:p>
            <a:r>
              <a:rPr lang="en-GB" dirty="0" smtClean="0">
                <a:latin typeface="Cambria" pitchFamily="18" charset="0"/>
                <a:ea typeface="Cambria" pitchFamily="18" charset="0"/>
              </a:rPr>
              <a:t>Simplified management of services &amp; places</a:t>
            </a:r>
          </a:p>
          <a:p>
            <a:r>
              <a:rPr lang="en-GB" dirty="0" smtClean="0">
                <a:latin typeface="Cambria" pitchFamily="18" charset="0"/>
                <a:ea typeface="Cambria" pitchFamily="18" charset="0"/>
              </a:rPr>
              <a:t>Ready for deployment with minor enhancements</a:t>
            </a:r>
          </a:p>
          <a:p>
            <a:endParaRPr lang="en-US" dirty="0">
              <a:latin typeface="Cambria" pitchFamily="18" charset="0"/>
              <a:ea typeface="Cambria"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itchFamily="18" charset="0"/>
                <a:ea typeface="Cambria" pitchFamily="18" charset="0"/>
              </a:rPr>
              <a:t>Conclusion</a:t>
            </a:r>
            <a:endParaRPr lang="en-US" dirty="0">
              <a:latin typeface="Cambria" pitchFamily="18" charset="0"/>
              <a:ea typeface="Cambria" pitchFamily="18" charset="0"/>
            </a:endParaRPr>
          </a:p>
        </p:txBody>
      </p:sp>
      <p:sp>
        <p:nvSpPr>
          <p:cNvPr id="3" name="Text Placeholder 2"/>
          <p:cNvSpPr>
            <a:spLocks noGrp="1"/>
          </p:cNvSpPr>
          <p:nvPr>
            <p:ph type="body" idx="1"/>
          </p:nvPr>
        </p:nvSpPr>
        <p:spPr/>
        <p:txBody>
          <a:bodyPr/>
          <a:lstStyle/>
          <a:p>
            <a:endParaRPr lang="en-GB" dirty="0" smtClean="0">
              <a:latin typeface="Cambria" pitchFamily="18" charset="0"/>
              <a:ea typeface="Cambria" pitchFamily="18" charset="0"/>
            </a:endParaRPr>
          </a:p>
          <a:p>
            <a:r>
              <a:rPr lang="en-GB" dirty="0" smtClean="0">
                <a:latin typeface="Cambria" pitchFamily="18" charset="0"/>
                <a:ea typeface="Cambria" pitchFamily="18" charset="0"/>
              </a:rPr>
              <a:t>Successfully </a:t>
            </a:r>
            <a:r>
              <a:rPr lang="en-GB" dirty="0" smtClean="0">
                <a:latin typeface="Cambria" pitchFamily="18" charset="0"/>
                <a:ea typeface="Cambria" pitchFamily="18" charset="0"/>
              </a:rPr>
              <a:t>developed a cultural tourism portal</a:t>
            </a:r>
          </a:p>
          <a:p>
            <a:r>
              <a:rPr lang="en-GB" dirty="0" smtClean="0">
                <a:latin typeface="Cambria" pitchFamily="18" charset="0"/>
                <a:ea typeface="Cambria" pitchFamily="18" charset="0"/>
              </a:rPr>
              <a:t>Helps users explore and book cultural experiences</a:t>
            </a:r>
          </a:p>
          <a:p>
            <a:r>
              <a:rPr lang="en-GB" dirty="0" smtClean="0">
                <a:latin typeface="Cambria" pitchFamily="18" charset="0"/>
                <a:ea typeface="Cambria" pitchFamily="18" charset="0"/>
              </a:rPr>
              <a:t>Strengthens cultural tourism awareness</a:t>
            </a:r>
          </a:p>
          <a:p>
            <a:r>
              <a:rPr lang="en-GB" dirty="0" smtClean="0">
                <a:latin typeface="Cambria" pitchFamily="18" charset="0"/>
                <a:ea typeface="Cambria" pitchFamily="18" charset="0"/>
              </a:rPr>
              <a:t>Provides admin tools for data management</a:t>
            </a:r>
          </a:p>
          <a:p>
            <a:r>
              <a:rPr lang="en-GB" dirty="0" smtClean="0">
                <a:latin typeface="Cambria" pitchFamily="18" charset="0"/>
                <a:ea typeface="Cambria" pitchFamily="18" charset="0"/>
              </a:rPr>
              <a:t>Scalable and can be extended further</a:t>
            </a:r>
            <a:endParaRPr lang="en-GB" dirty="0">
              <a:latin typeface="Cambria" pitchFamily="18" charset="0"/>
              <a:ea typeface="Cambria"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75" y="246064"/>
            <a:ext cx="10766425" cy="487500"/>
          </a:xfrm>
        </p:spPr>
        <p:txBody>
          <a:bodyPr/>
          <a:lstStyle/>
          <a:p>
            <a:r>
              <a:rPr lang="en-US" sz="3200" dirty="0" smtClean="0">
                <a:latin typeface="Cambria" pitchFamily="18" charset="0"/>
                <a:ea typeface="Cambria" pitchFamily="18" charset="0"/>
              </a:rPr>
              <a:t>Future Enhancements</a:t>
            </a:r>
            <a:endParaRPr lang="en-US" sz="3200" dirty="0">
              <a:latin typeface="Cambria" pitchFamily="18" charset="0"/>
              <a:ea typeface="Cambria" pitchFamily="18" charset="0"/>
            </a:endParaRPr>
          </a:p>
        </p:txBody>
      </p:sp>
      <p:sp>
        <p:nvSpPr>
          <p:cNvPr id="3" name="Text Placeholder 2"/>
          <p:cNvSpPr>
            <a:spLocks noGrp="1"/>
          </p:cNvSpPr>
          <p:nvPr>
            <p:ph type="body" idx="1"/>
          </p:nvPr>
        </p:nvSpPr>
        <p:spPr>
          <a:xfrm>
            <a:off x="657225" y="1028700"/>
            <a:ext cx="10958513" cy="5100638"/>
          </a:xfrm>
        </p:spPr>
        <p:txBody>
          <a:bodyPr>
            <a:noAutofit/>
          </a:bodyPr>
          <a:lstStyle/>
          <a:p>
            <a:r>
              <a:rPr lang="en-GB" sz="1700" b="1" dirty="0" smtClean="0">
                <a:latin typeface="Cambria" pitchFamily="18" charset="0"/>
                <a:ea typeface="Cambria" pitchFamily="18" charset="0"/>
              </a:rPr>
              <a:t>Virtual Reality (VR) Based Cultural Heritage Tours</a:t>
            </a:r>
          </a:p>
          <a:p>
            <a:pPr lvl="1"/>
            <a:r>
              <a:rPr lang="en-GB" sz="1700" dirty="0" smtClean="0">
                <a:latin typeface="Cambria" pitchFamily="18" charset="0"/>
                <a:ea typeface="Cambria" pitchFamily="18" charset="0"/>
              </a:rPr>
              <a:t>360</a:t>
            </a:r>
            <a:r>
              <a:rPr lang="en-GB" sz="1700" dirty="0" smtClean="0">
                <a:latin typeface="Cambria" pitchFamily="18" charset="0"/>
                <a:ea typeface="Cambria" pitchFamily="18" charset="0"/>
              </a:rPr>
              <a:t>° walkthroughs of temples, palaces, heritage streets</a:t>
            </a:r>
          </a:p>
          <a:p>
            <a:pPr lvl="1"/>
            <a:r>
              <a:rPr lang="en-GB" sz="1700" dirty="0" smtClean="0">
                <a:latin typeface="Cambria" pitchFamily="18" charset="0"/>
                <a:ea typeface="Cambria" pitchFamily="18" charset="0"/>
              </a:rPr>
              <a:t>VR storytelling about local traditions and rituals</a:t>
            </a:r>
          </a:p>
          <a:p>
            <a:pPr lvl="1"/>
            <a:r>
              <a:rPr lang="en-GB" sz="1700" dirty="0" smtClean="0">
                <a:latin typeface="Cambria" pitchFamily="18" charset="0"/>
                <a:ea typeface="Cambria" pitchFamily="18" charset="0"/>
              </a:rPr>
              <a:t>Simulated cultural festivals, dances, and workshops</a:t>
            </a:r>
          </a:p>
          <a:p>
            <a:r>
              <a:rPr lang="en-GB" sz="1700" b="1" dirty="0" smtClean="0">
                <a:latin typeface="Cambria" pitchFamily="18" charset="0"/>
                <a:ea typeface="Cambria" pitchFamily="18" charset="0"/>
              </a:rPr>
              <a:t>AI Recommendation Engine</a:t>
            </a:r>
          </a:p>
          <a:p>
            <a:pPr>
              <a:buNone/>
            </a:pPr>
            <a:r>
              <a:rPr lang="en-GB" sz="1700" dirty="0" smtClean="0">
                <a:latin typeface="Cambria" pitchFamily="18" charset="0"/>
                <a:ea typeface="Cambria" pitchFamily="18" charset="0"/>
              </a:rPr>
              <a:t>	</a:t>
            </a:r>
            <a:r>
              <a:rPr lang="en-GB" sz="1700" dirty="0" smtClean="0">
                <a:latin typeface="Cambria" pitchFamily="18" charset="0"/>
                <a:ea typeface="Cambria" pitchFamily="18" charset="0"/>
              </a:rPr>
              <a:t>Use </a:t>
            </a:r>
            <a:r>
              <a:rPr lang="en-GB" sz="1700" dirty="0" smtClean="0">
                <a:latin typeface="Cambria" pitchFamily="18" charset="0"/>
                <a:ea typeface="Cambria" pitchFamily="18" charset="0"/>
              </a:rPr>
              <a:t>AI to recommend places, events, food, and itineraries based on user interests and travel </a:t>
            </a:r>
            <a:r>
              <a:rPr lang="en-GB" sz="1700" dirty="0" err="1" smtClean="0">
                <a:latin typeface="Cambria" pitchFamily="18" charset="0"/>
                <a:ea typeface="Cambria" pitchFamily="18" charset="0"/>
              </a:rPr>
              <a:t>behavior</a:t>
            </a:r>
            <a:r>
              <a:rPr lang="en-GB" sz="1700" dirty="0" smtClean="0">
                <a:latin typeface="Cambria" pitchFamily="18" charset="0"/>
                <a:ea typeface="Cambria" pitchFamily="18" charset="0"/>
              </a:rPr>
              <a:t>.</a:t>
            </a:r>
          </a:p>
          <a:p>
            <a:r>
              <a:rPr lang="en-GB" sz="1700" b="1" dirty="0" smtClean="0">
                <a:latin typeface="Cambria" pitchFamily="18" charset="0"/>
                <a:ea typeface="Cambria" pitchFamily="18" charset="0"/>
              </a:rPr>
              <a:t>Multi-Language </a:t>
            </a:r>
            <a:r>
              <a:rPr lang="en-GB" sz="1700" b="1" dirty="0" smtClean="0">
                <a:latin typeface="Cambria" pitchFamily="18" charset="0"/>
                <a:ea typeface="Cambria" pitchFamily="18" charset="0"/>
              </a:rPr>
              <a:t>Support</a:t>
            </a:r>
          </a:p>
          <a:p>
            <a:pPr>
              <a:buNone/>
            </a:pPr>
            <a:r>
              <a:rPr lang="en-GB" sz="1700" dirty="0" smtClean="0">
                <a:latin typeface="Cambria" pitchFamily="18" charset="0"/>
                <a:ea typeface="Cambria" pitchFamily="18" charset="0"/>
              </a:rPr>
              <a:t>	Offer </a:t>
            </a:r>
            <a:r>
              <a:rPr lang="en-GB" sz="1700" dirty="0" smtClean="0">
                <a:latin typeface="Cambria" pitchFamily="18" charset="0"/>
                <a:ea typeface="Cambria" pitchFamily="18" charset="0"/>
              </a:rPr>
              <a:t>content in multiple regional and international languages to make the portal accessible to global users.</a:t>
            </a:r>
          </a:p>
          <a:p>
            <a:r>
              <a:rPr lang="en-GB" sz="1700" b="1" dirty="0" smtClean="0">
                <a:latin typeface="Cambria" pitchFamily="18" charset="0"/>
                <a:ea typeface="Cambria" pitchFamily="18" charset="0"/>
              </a:rPr>
              <a:t>Dynamic </a:t>
            </a:r>
            <a:r>
              <a:rPr lang="en-GB" sz="1700" b="1" dirty="0" smtClean="0">
                <a:latin typeface="Cambria" pitchFamily="18" charset="0"/>
                <a:ea typeface="Cambria" pitchFamily="18" charset="0"/>
              </a:rPr>
              <a:t>Festival &amp; Event Calendar</a:t>
            </a:r>
          </a:p>
          <a:p>
            <a:pPr>
              <a:buNone/>
            </a:pPr>
            <a:r>
              <a:rPr lang="en-GB" sz="1700" dirty="0" smtClean="0">
                <a:latin typeface="Cambria" pitchFamily="18" charset="0"/>
                <a:ea typeface="Cambria" pitchFamily="18" charset="0"/>
              </a:rPr>
              <a:t>	Integrate </a:t>
            </a:r>
            <a:r>
              <a:rPr lang="en-GB" sz="1700" dirty="0" smtClean="0">
                <a:latin typeface="Cambria" pitchFamily="18" charset="0"/>
                <a:ea typeface="Cambria" pitchFamily="18" charset="0"/>
              </a:rPr>
              <a:t>real-time cultural event updates so tourists can plan visits during festivals and special occasions.</a:t>
            </a:r>
          </a:p>
          <a:p>
            <a:r>
              <a:rPr lang="en-GB" sz="1700" b="1" dirty="0" smtClean="0">
                <a:latin typeface="Cambria" pitchFamily="18" charset="0"/>
                <a:ea typeface="Cambria" pitchFamily="18" charset="0"/>
              </a:rPr>
              <a:t> </a:t>
            </a:r>
            <a:r>
              <a:rPr lang="en-GB" sz="1700" b="1" dirty="0" smtClean="0">
                <a:latin typeface="Cambria" pitchFamily="18" charset="0"/>
                <a:ea typeface="Cambria" pitchFamily="18" charset="0"/>
              </a:rPr>
              <a:t>AI </a:t>
            </a:r>
            <a:r>
              <a:rPr lang="en-GB" sz="1700" b="1" dirty="0" err="1" smtClean="0">
                <a:latin typeface="Cambria" pitchFamily="18" charset="0"/>
                <a:ea typeface="Cambria" pitchFamily="18" charset="0"/>
              </a:rPr>
              <a:t>Chatbot</a:t>
            </a:r>
            <a:r>
              <a:rPr lang="en-GB" sz="1700" b="1" dirty="0" smtClean="0">
                <a:latin typeface="Cambria" pitchFamily="18" charset="0"/>
                <a:ea typeface="Cambria" pitchFamily="18" charset="0"/>
              </a:rPr>
              <a:t> Support</a:t>
            </a:r>
          </a:p>
          <a:p>
            <a:pPr>
              <a:buNone/>
            </a:pPr>
            <a:r>
              <a:rPr lang="en-GB" sz="1700" dirty="0" smtClean="0">
                <a:latin typeface="Cambria" pitchFamily="18" charset="0"/>
                <a:ea typeface="Cambria" pitchFamily="18" charset="0"/>
              </a:rPr>
              <a:t>	Add </a:t>
            </a:r>
            <a:r>
              <a:rPr lang="en-GB" sz="1700" dirty="0" smtClean="0">
                <a:latin typeface="Cambria" pitchFamily="18" charset="0"/>
                <a:ea typeface="Cambria" pitchFamily="18" charset="0"/>
              </a:rPr>
              <a:t>a smart </a:t>
            </a:r>
            <a:r>
              <a:rPr lang="en-GB" sz="1700" dirty="0" err="1" smtClean="0">
                <a:latin typeface="Cambria" pitchFamily="18" charset="0"/>
                <a:ea typeface="Cambria" pitchFamily="18" charset="0"/>
              </a:rPr>
              <a:t>chatbot</a:t>
            </a:r>
            <a:r>
              <a:rPr lang="en-GB" sz="1700" dirty="0" smtClean="0">
                <a:latin typeface="Cambria" pitchFamily="18" charset="0"/>
                <a:ea typeface="Cambria" pitchFamily="18" charset="0"/>
              </a:rPr>
              <a:t> to instantly answer tourist queries and assist with bookings and recommendations</a:t>
            </a:r>
            <a:r>
              <a:rPr lang="en-GB" sz="1700" dirty="0" smtClean="0">
                <a:latin typeface="Cambria" pitchFamily="18" charset="0"/>
                <a:ea typeface="Cambria" pitchFamily="18" charset="0"/>
              </a:rPr>
              <a:t>.</a:t>
            </a:r>
            <a:endParaRPr lang="en-GB" sz="1700" dirty="0" smtClean="0">
              <a:latin typeface="Cambria" pitchFamily="18" charset="0"/>
              <a:ea typeface="Cambria" pitchFamily="18" charset="0"/>
            </a:endParaRPr>
          </a:p>
          <a:p>
            <a:r>
              <a:rPr lang="en-GB" sz="1700" b="1" dirty="0" smtClean="0">
                <a:latin typeface="Cambria" pitchFamily="18" charset="0"/>
                <a:ea typeface="Cambria" pitchFamily="18" charset="0"/>
              </a:rPr>
              <a:t>Social </a:t>
            </a:r>
            <a:r>
              <a:rPr lang="en-GB" sz="1700" b="1" dirty="0" smtClean="0">
                <a:latin typeface="Cambria" pitchFamily="18" charset="0"/>
                <a:ea typeface="Cambria" pitchFamily="18" charset="0"/>
              </a:rPr>
              <a:t>Media Sharing</a:t>
            </a:r>
          </a:p>
          <a:p>
            <a:pPr>
              <a:buNone/>
            </a:pPr>
            <a:r>
              <a:rPr lang="en-GB" sz="1700" dirty="0" smtClean="0">
                <a:latin typeface="Cambria" pitchFamily="18" charset="0"/>
                <a:ea typeface="Cambria" pitchFamily="18" charset="0"/>
              </a:rPr>
              <a:t>	Allow </a:t>
            </a:r>
            <a:r>
              <a:rPr lang="en-GB" sz="1700" dirty="0" smtClean="0">
                <a:latin typeface="Cambria" pitchFamily="18" charset="0"/>
                <a:ea typeface="Cambria" pitchFamily="18" charset="0"/>
              </a:rPr>
              <a:t>users to share cultural experiences, photos, and visited locations directly to social media platforms.</a:t>
            </a:r>
          </a:p>
          <a:p>
            <a:pPr>
              <a:buNone/>
            </a:pPr>
            <a:endParaRPr lang="en-GB" sz="1700" dirty="0" smtClean="0">
              <a:latin typeface="Cambria" pitchFamily="18" charset="0"/>
              <a:ea typeface="Cambria" pitchFamily="18" charset="0"/>
            </a:endParaRPr>
          </a:p>
          <a:p>
            <a:endParaRPr lang="en-US" sz="1700" dirty="0">
              <a:latin typeface="Cambria" pitchFamily="18" charset="0"/>
              <a:ea typeface="Cambria"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xmlns="" id="{41489416-4D20-DC78-948F-85FAEF01B529}"/>
              </a:ext>
            </a:extLst>
          </p:cNvPr>
          <p:cNvPicPr>
            <a:picLocks noChangeAspect="1"/>
          </p:cNvPicPr>
          <p:nvPr/>
        </p:nvPicPr>
        <p:blipFill>
          <a:blip r:embed="rId3"/>
          <a:stretch>
            <a:fillRect/>
          </a:stretch>
        </p:blipFill>
        <p:spPr>
          <a:xfrm>
            <a:off x="1015999" y="1215813"/>
            <a:ext cx="8873076" cy="4803987"/>
          </a:xfrm>
          <a:prstGeom prst="rect">
            <a:avLst/>
          </a:prstGeom>
        </p:spPr>
      </p:pic>
    </p:spTree>
    <p:extLst>
      <p:ext uri="{BB962C8B-B14F-4D97-AF65-F5344CB8AC3E}">
        <p14:creationId xmlns:p14="http://schemas.microsoft.com/office/powerpoint/2010/main" xmlns="" val="479890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xmlns=""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504</TotalTime>
  <Words>1060</Words>
  <Application>Microsoft Office PowerPoint</Application>
  <PresentationFormat>Custom</PresentationFormat>
  <Paragraphs>158</Paragraphs>
  <Slides>18</Slides>
  <Notes>7</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Bioinformatics</vt:lpstr>
      <vt:lpstr>CULTURE BASED TOURISM DEVELOPMENT PORTAL</vt:lpstr>
      <vt:lpstr>Content (continuation)..</vt:lpstr>
      <vt:lpstr>Content</vt:lpstr>
      <vt:lpstr>Analysis of Problem Statement</vt:lpstr>
      <vt:lpstr>References</vt:lpstr>
      <vt:lpstr>Slide 6</vt:lpstr>
      <vt:lpstr>Slide 7</vt:lpstr>
      <vt:lpstr>Slide 8</vt:lpstr>
      <vt:lpstr>Proposed System</vt:lpstr>
      <vt:lpstr>Detailed Functionality</vt:lpstr>
      <vt:lpstr>Testing &amp; Validation</vt:lpstr>
      <vt:lpstr>Challenges Faced</vt:lpstr>
      <vt:lpstr>Project Screenshots</vt:lpstr>
      <vt:lpstr>Results</vt:lpstr>
      <vt:lpstr>Conclusion</vt:lpstr>
      <vt:lpstr>Future Enhancements</vt:lpstr>
      <vt:lpstr>Timeline of the Project (Gantt Chart)</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Rakshitha D P</cp:lastModifiedBy>
  <cp:revision>47</cp:revision>
  <dcterms:modified xsi:type="dcterms:W3CDTF">2025-12-03T04:07:34Z</dcterms:modified>
</cp:coreProperties>
</file>